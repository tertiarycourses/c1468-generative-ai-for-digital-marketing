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charts/chart3.xml" ContentType="application/vnd.openxmlformats-officedocument.drawingml.chart+xml"/>
  <Override PartName="/ppt/charts/chart30.xml" ContentType="application/vnd.openxmlformats-officedocument.drawingml.chart+xml"/>
  <Override PartName="/ppt/charts/chart31.xml" ContentType="application/vnd.openxmlformats-officedocument.drawingml.chart+xml"/>
  <Override PartName="/ppt/charts/chart32.xml" ContentType="application/vnd.openxmlformats-officedocument.drawingml.chart+xml"/>
  <Override PartName="/ppt/charts/chart33.xml" ContentType="application/vnd.openxmlformats-officedocument.drawingml.chart+xml"/>
  <Override PartName="/ppt/charts/chart34.xml" ContentType="application/vnd.openxmlformats-officedocument.drawingml.chart+xml"/>
  <Override PartName="/ppt/charts/chart35.xml" ContentType="application/vnd.openxmlformats-officedocument.drawingml.chart+xml"/>
  <Override PartName="/ppt/charts/chart36.xml" ContentType="application/vnd.openxmlformats-officedocument.drawingml.chart+xml"/>
  <Override PartName="/ppt/charts/chart37.xml" ContentType="application/vnd.openxmlformats-officedocument.drawingml.chart+xml"/>
  <Override PartName="/ppt/charts/chart38.xml" ContentType="application/vnd.openxmlformats-officedocument.drawingml.chart+xml"/>
  <Override PartName="/ppt/charts/chart39.xml" ContentType="application/vnd.openxmlformats-officedocument.drawingml.chart+xml"/>
  <Override PartName="/ppt/charts/chart4.xml" ContentType="application/vnd.openxmlformats-officedocument.drawingml.chart+xml"/>
  <Override PartName="/ppt/charts/chart40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8" r:id="rId9"/>
    <p:sldId id="259" r:id="rId10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4" r:id="rId215"/>
    <p:sldId id="465" r:id="rId2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47" Type="http://schemas.openxmlformats.org/officeDocument/2006/relationships/slide" Target="slides/slide39.xml"/><Relationship Id="rId48" Type="http://schemas.openxmlformats.org/officeDocument/2006/relationships/slide" Target="slides/slide40.xml"/><Relationship Id="rId49" Type="http://schemas.openxmlformats.org/officeDocument/2006/relationships/slide" Target="slides/slide41.xml"/><Relationship Id="rId50" Type="http://schemas.openxmlformats.org/officeDocument/2006/relationships/slide" Target="slides/slide42.xml"/><Relationship Id="rId51" Type="http://schemas.openxmlformats.org/officeDocument/2006/relationships/slide" Target="slides/slide43.xml"/><Relationship Id="rId52" Type="http://schemas.openxmlformats.org/officeDocument/2006/relationships/slide" Target="slides/slide44.xml"/><Relationship Id="rId53" Type="http://schemas.openxmlformats.org/officeDocument/2006/relationships/slide" Target="slides/slide45.xml"/><Relationship Id="rId54" Type="http://schemas.openxmlformats.org/officeDocument/2006/relationships/slide" Target="slides/slide46.xml"/><Relationship Id="rId55" Type="http://schemas.openxmlformats.org/officeDocument/2006/relationships/slide" Target="slides/slide47.xml"/><Relationship Id="rId56" Type="http://schemas.openxmlformats.org/officeDocument/2006/relationships/slide" Target="slides/slide48.xml"/><Relationship Id="rId57" Type="http://schemas.openxmlformats.org/officeDocument/2006/relationships/slide" Target="slides/slide49.xml"/><Relationship Id="rId58" Type="http://schemas.openxmlformats.org/officeDocument/2006/relationships/slide" Target="slides/slide50.xml"/><Relationship Id="rId59" Type="http://schemas.openxmlformats.org/officeDocument/2006/relationships/slide" Target="slides/slide51.xml"/><Relationship Id="rId60" Type="http://schemas.openxmlformats.org/officeDocument/2006/relationships/slide" Target="slides/slide52.xml"/><Relationship Id="rId61" Type="http://schemas.openxmlformats.org/officeDocument/2006/relationships/slide" Target="slides/slide53.xml"/><Relationship Id="rId62" Type="http://schemas.openxmlformats.org/officeDocument/2006/relationships/slide" Target="slides/slide54.xml"/><Relationship Id="rId63" Type="http://schemas.openxmlformats.org/officeDocument/2006/relationships/slide" Target="slides/slide55.xml"/><Relationship Id="rId64" Type="http://schemas.openxmlformats.org/officeDocument/2006/relationships/slide" Target="slides/slide56.xml"/><Relationship Id="rId65" Type="http://schemas.openxmlformats.org/officeDocument/2006/relationships/slide" Target="slides/slide57.xml"/><Relationship Id="rId66" Type="http://schemas.openxmlformats.org/officeDocument/2006/relationships/slide" Target="slides/slide58.xml"/><Relationship Id="rId67" Type="http://schemas.openxmlformats.org/officeDocument/2006/relationships/slide" Target="slides/slide59.xml"/><Relationship Id="rId68" Type="http://schemas.openxmlformats.org/officeDocument/2006/relationships/slide" Target="slides/slide60.xml"/><Relationship Id="rId69" Type="http://schemas.openxmlformats.org/officeDocument/2006/relationships/slide" Target="slides/slide61.xml"/><Relationship Id="rId70" Type="http://schemas.openxmlformats.org/officeDocument/2006/relationships/slide" Target="slides/slide62.xml"/><Relationship Id="rId71" Type="http://schemas.openxmlformats.org/officeDocument/2006/relationships/slide" Target="slides/slide63.xml"/><Relationship Id="rId72" Type="http://schemas.openxmlformats.org/officeDocument/2006/relationships/slide" Target="slides/slide64.xml"/><Relationship Id="rId73" Type="http://schemas.openxmlformats.org/officeDocument/2006/relationships/slide" Target="slides/slide65.xml"/><Relationship Id="rId74" Type="http://schemas.openxmlformats.org/officeDocument/2006/relationships/slide" Target="slides/slide66.xml"/><Relationship Id="rId75" Type="http://schemas.openxmlformats.org/officeDocument/2006/relationships/slide" Target="slides/slide67.xml"/><Relationship Id="rId76" Type="http://schemas.openxmlformats.org/officeDocument/2006/relationships/slide" Target="slides/slide68.xml"/><Relationship Id="rId77" Type="http://schemas.openxmlformats.org/officeDocument/2006/relationships/slide" Target="slides/slide69.xml"/><Relationship Id="rId78" Type="http://schemas.openxmlformats.org/officeDocument/2006/relationships/slide" Target="slides/slide70.xml"/><Relationship Id="rId79" Type="http://schemas.openxmlformats.org/officeDocument/2006/relationships/slide" Target="slides/slide71.xml"/><Relationship Id="rId80" Type="http://schemas.openxmlformats.org/officeDocument/2006/relationships/slide" Target="slides/slide72.xml"/><Relationship Id="rId81" Type="http://schemas.openxmlformats.org/officeDocument/2006/relationships/slide" Target="slides/slide73.xml"/><Relationship Id="rId82" Type="http://schemas.openxmlformats.org/officeDocument/2006/relationships/slide" Target="slides/slide74.xml"/><Relationship Id="rId83" Type="http://schemas.openxmlformats.org/officeDocument/2006/relationships/slide" Target="slides/slide75.xml"/><Relationship Id="rId84" Type="http://schemas.openxmlformats.org/officeDocument/2006/relationships/slide" Target="slides/slide76.xml"/><Relationship Id="rId85" Type="http://schemas.openxmlformats.org/officeDocument/2006/relationships/slide" Target="slides/slide77.xml"/><Relationship Id="rId86" Type="http://schemas.openxmlformats.org/officeDocument/2006/relationships/slide" Target="slides/slide78.xml"/><Relationship Id="rId87" Type="http://schemas.openxmlformats.org/officeDocument/2006/relationships/slide" Target="slides/slide79.xml"/><Relationship Id="rId88" Type="http://schemas.openxmlformats.org/officeDocument/2006/relationships/slide" Target="slides/slide80.xml"/><Relationship Id="rId89" Type="http://schemas.openxmlformats.org/officeDocument/2006/relationships/slide" Target="slides/slide81.xml"/><Relationship Id="rId90" Type="http://schemas.openxmlformats.org/officeDocument/2006/relationships/slide" Target="slides/slide82.xml"/><Relationship Id="rId91" Type="http://schemas.openxmlformats.org/officeDocument/2006/relationships/slide" Target="slides/slide83.xml"/><Relationship Id="rId92" Type="http://schemas.openxmlformats.org/officeDocument/2006/relationships/slide" Target="slides/slide84.xml"/><Relationship Id="rId93" Type="http://schemas.openxmlformats.org/officeDocument/2006/relationships/slide" Target="slides/slide85.xml"/><Relationship Id="rId94" Type="http://schemas.openxmlformats.org/officeDocument/2006/relationships/slide" Target="slides/slide86.xml"/><Relationship Id="rId95" Type="http://schemas.openxmlformats.org/officeDocument/2006/relationships/slide" Target="slides/slide87.xml"/><Relationship Id="rId96" Type="http://schemas.openxmlformats.org/officeDocument/2006/relationships/slide" Target="slides/slide88.xml"/><Relationship Id="rId97" Type="http://schemas.openxmlformats.org/officeDocument/2006/relationships/slide" Target="slides/slide89.xml"/><Relationship Id="rId98" Type="http://schemas.openxmlformats.org/officeDocument/2006/relationships/slide" Target="slides/slide90.xml"/><Relationship Id="rId99" Type="http://schemas.openxmlformats.org/officeDocument/2006/relationships/slide" Target="slides/slide91.xml"/><Relationship Id="rId100" Type="http://schemas.openxmlformats.org/officeDocument/2006/relationships/slide" Target="slides/slide92.xml"/><Relationship Id="rId101" Type="http://schemas.openxmlformats.org/officeDocument/2006/relationships/slide" Target="slides/slide93.xml"/><Relationship Id="rId102" Type="http://schemas.openxmlformats.org/officeDocument/2006/relationships/slide" Target="slides/slide94.xml"/><Relationship Id="rId103" Type="http://schemas.openxmlformats.org/officeDocument/2006/relationships/slide" Target="slides/slide95.xml"/><Relationship Id="rId104" Type="http://schemas.openxmlformats.org/officeDocument/2006/relationships/slide" Target="slides/slide96.xml"/><Relationship Id="rId105" Type="http://schemas.openxmlformats.org/officeDocument/2006/relationships/slide" Target="slides/slide97.xml"/><Relationship Id="rId106" Type="http://schemas.openxmlformats.org/officeDocument/2006/relationships/slide" Target="slides/slide98.xml"/><Relationship Id="rId107" Type="http://schemas.openxmlformats.org/officeDocument/2006/relationships/slide" Target="slides/slide99.xml"/><Relationship Id="rId108" Type="http://schemas.openxmlformats.org/officeDocument/2006/relationships/slide" Target="slides/slide100.xml"/><Relationship Id="rId109" Type="http://schemas.openxmlformats.org/officeDocument/2006/relationships/slide" Target="slides/slide101.xml"/><Relationship Id="rId110" Type="http://schemas.openxmlformats.org/officeDocument/2006/relationships/slide" Target="slides/slide102.xml"/><Relationship Id="rId111" Type="http://schemas.openxmlformats.org/officeDocument/2006/relationships/slide" Target="slides/slide103.xml"/><Relationship Id="rId112" Type="http://schemas.openxmlformats.org/officeDocument/2006/relationships/slide" Target="slides/slide104.xml"/><Relationship Id="rId113" Type="http://schemas.openxmlformats.org/officeDocument/2006/relationships/slide" Target="slides/slide105.xml"/><Relationship Id="rId114" Type="http://schemas.openxmlformats.org/officeDocument/2006/relationships/slide" Target="slides/slide106.xml"/><Relationship Id="rId115" Type="http://schemas.openxmlformats.org/officeDocument/2006/relationships/slide" Target="slides/slide107.xml"/><Relationship Id="rId116" Type="http://schemas.openxmlformats.org/officeDocument/2006/relationships/slide" Target="slides/slide108.xml"/><Relationship Id="rId117" Type="http://schemas.openxmlformats.org/officeDocument/2006/relationships/slide" Target="slides/slide109.xml"/><Relationship Id="rId118" Type="http://schemas.openxmlformats.org/officeDocument/2006/relationships/slide" Target="slides/slide110.xml"/><Relationship Id="rId119" Type="http://schemas.openxmlformats.org/officeDocument/2006/relationships/slide" Target="slides/slide111.xml"/><Relationship Id="rId120" Type="http://schemas.openxmlformats.org/officeDocument/2006/relationships/slide" Target="slides/slide112.xml"/><Relationship Id="rId121" Type="http://schemas.openxmlformats.org/officeDocument/2006/relationships/slide" Target="slides/slide113.xml"/><Relationship Id="rId122" Type="http://schemas.openxmlformats.org/officeDocument/2006/relationships/slide" Target="slides/slide114.xml"/><Relationship Id="rId123" Type="http://schemas.openxmlformats.org/officeDocument/2006/relationships/slide" Target="slides/slide115.xml"/><Relationship Id="rId124" Type="http://schemas.openxmlformats.org/officeDocument/2006/relationships/slide" Target="slides/slide116.xml"/><Relationship Id="rId125" Type="http://schemas.openxmlformats.org/officeDocument/2006/relationships/slide" Target="slides/slide117.xml"/><Relationship Id="rId126" Type="http://schemas.openxmlformats.org/officeDocument/2006/relationships/slide" Target="slides/slide118.xml"/><Relationship Id="rId127" Type="http://schemas.openxmlformats.org/officeDocument/2006/relationships/slide" Target="slides/slide119.xml"/><Relationship Id="rId128" Type="http://schemas.openxmlformats.org/officeDocument/2006/relationships/slide" Target="slides/slide120.xml"/><Relationship Id="rId129" Type="http://schemas.openxmlformats.org/officeDocument/2006/relationships/slide" Target="slides/slide121.xml"/><Relationship Id="rId130" Type="http://schemas.openxmlformats.org/officeDocument/2006/relationships/slide" Target="slides/slide122.xml"/><Relationship Id="rId131" Type="http://schemas.openxmlformats.org/officeDocument/2006/relationships/slide" Target="slides/slide123.xml"/><Relationship Id="rId132" Type="http://schemas.openxmlformats.org/officeDocument/2006/relationships/slide" Target="slides/slide124.xml"/><Relationship Id="rId133" Type="http://schemas.openxmlformats.org/officeDocument/2006/relationships/slide" Target="slides/slide125.xml"/><Relationship Id="rId134" Type="http://schemas.openxmlformats.org/officeDocument/2006/relationships/slide" Target="slides/slide126.xml"/><Relationship Id="rId135" Type="http://schemas.openxmlformats.org/officeDocument/2006/relationships/slide" Target="slides/slide127.xml"/><Relationship Id="rId136" Type="http://schemas.openxmlformats.org/officeDocument/2006/relationships/slide" Target="slides/slide128.xml"/><Relationship Id="rId137" Type="http://schemas.openxmlformats.org/officeDocument/2006/relationships/slide" Target="slides/slide129.xml"/><Relationship Id="rId138" Type="http://schemas.openxmlformats.org/officeDocument/2006/relationships/slide" Target="slides/slide130.xml"/><Relationship Id="rId139" Type="http://schemas.openxmlformats.org/officeDocument/2006/relationships/slide" Target="slides/slide131.xml"/><Relationship Id="rId140" Type="http://schemas.openxmlformats.org/officeDocument/2006/relationships/slide" Target="slides/slide132.xml"/><Relationship Id="rId141" Type="http://schemas.openxmlformats.org/officeDocument/2006/relationships/slide" Target="slides/slide133.xml"/><Relationship Id="rId142" Type="http://schemas.openxmlformats.org/officeDocument/2006/relationships/slide" Target="slides/slide134.xml"/><Relationship Id="rId143" Type="http://schemas.openxmlformats.org/officeDocument/2006/relationships/slide" Target="slides/slide135.xml"/><Relationship Id="rId144" Type="http://schemas.openxmlformats.org/officeDocument/2006/relationships/slide" Target="slides/slide136.xml"/><Relationship Id="rId145" Type="http://schemas.openxmlformats.org/officeDocument/2006/relationships/slide" Target="slides/slide137.xml"/><Relationship Id="rId146" Type="http://schemas.openxmlformats.org/officeDocument/2006/relationships/slide" Target="slides/slide138.xml"/><Relationship Id="rId147" Type="http://schemas.openxmlformats.org/officeDocument/2006/relationships/slide" Target="slides/slide139.xml"/><Relationship Id="rId148" Type="http://schemas.openxmlformats.org/officeDocument/2006/relationships/slide" Target="slides/slide140.xml"/><Relationship Id="rId149" Type="http://schemas.openxmlformats.org/officeDocument/2006/relationships/slide" Target="slides/slide141.xml"/><Relationship Id="rId150" Type="http://schemas.openxmlformats.org/officeDocument/2006/relationships/slide" Target="slides/slide142.xml"/><Relationship Id="rId151" Type="http://schemas.openxmlformats.org/officeDocument/2006/relationships/slide" Target="slides/slide143.xml"/><Relationship Id="rId152" Type="http://schemas.openxmlformats.org/officeDocument/2006/relationships/slide" Target="slides/slide144.xml"/><Relationship Id="rId153" Type="http://schemas.openxmlformats.org/officeDocument/2006/relationships/slide" Target="slides/slide145.xml"/><Relationship Id="rId154" Type="http://schemas.openxmlformats.org/officeDocument/2006/relationships/slide" Target="slides/slide146.xml"/><Relationship Id="rId155" Type="http://schemas.openxmlformats.org/officeDocument/2006/relationships/slide" Target="slides/slide147.xml"/><Relationship Id="rId156" Type="http://schemas.openxmlformats.org/officeDocument/2006/relationships/slide" Target="slides/slide148.xml"/><Relationship Id="rId157" Type="http://schemas.openxmlformats.org/officeDocument/2006/relationships/slide" Target="slides/slide149.xml"/><Relationship Id="rId158" Type="http://schemas.openxmlformats.org/officeDocument/2006/relationships/slide" Target="slides/slide150.xml"/><Relationship Id="rId159" Type="http://schemas.openxmlformats.org/officeDocument/2006/relationships/slide" Target="slides/slide151.xml"/><Relationship Id="rId160" Type="http://schemas.openxmlformats.org/officeDocument/2006/relationships/slide" Target="slides/slide152.xml"/><Relationship Id="rId161" Type="http://schemas.openxmlformats.org/officeDocument/2006/relationships/slide" Target="slides/slide153.xml"/><Relationship Id="rId162" Type="http://schemas.openxmlformats.org/officeDocument/2006/relationships/slide" Target="slides/slide154.xml"/><Relationship Id="rId163" Type="http://schemas.openxmlformats.org/officeDocument/2006/relationships/slide" Target="slides/slide155.xml"/><Relationship Id="rId164" Type="http://schemas.openxmlformats.org/officeDocument/2006/relationships/slide" Target="slides/slide156.xml"/><Relationship Id="rId165" Type="http://schemas.openxmlformats.org/officeDocument/2006/relationships/slide" Target="slides/slide157.xml"/><Relationship Id="rId166" Type="http://schemas.openxmlformats.org/officeDocument/2006/relationships/slide" Target="slides/slide158.xml"/><Relationship Id="rId167" Type="http://schemas.openxmlformats.org/officeDocument/2006/relationships/slide" Target="slides/slide159.xml"/><Relationship Id="rId168" Type="http://schemas.openxmlformats.org/officeDocument/2006/relationships/slide" Target="slides/slide160.xml"/><Relationship Id="rId169" Type="http://schemas.openxmlformats.org/officeDocument/2006/relationships/slide" Target="slides/slide161.xml"/><Relationship Id="rId170" Type="http://schemas.openxmlformats.org/officeDocument/2006/relationships/slide" Target="slides/slide162.xml"/><Relationship Id="rId171" Type="http://schemas.openxmlformats.org/officeDocument/2006/relationships/slide" Target="slides/slide163.xml"/><Relationship Id="rId172" Type="http://schemas.openxmlformats.org/officeDocument/2006/relationships/slide" Target="slides/slide164.xml"/><Relationship Id="rId173" Type="http://schemas.openxmlformats.org/officeDocument/2006/relationships/slide" Target="slides/slide165.xml"/><Relationship Id="rId174" Type="http://schemas.openxmlformats.org/officeDocument/2006/relationships/slide" Target="slides/slide166.xml"/><Relationship Id="rId175" Type="http://schemas.openxmlformats.org/officeDocument/2006/relationships/slide" Target="slides/slide167.xml"/><Relationship Id="rId176" Type="http://schemas.openxmlformats.org/officeDocument/2006/relationships/slide" Target="slides/slide168.xml"/><Relationship Id="rId177" Type="http://schemas.openxmlformats.org/officeDocument/2006/relationships/slide" Target="slides/slide169.xml"/><Relationship Id="rId178" Type="http://schemas.openxmlformats.org/officeDocument/2006/relationships/slide" Target="slides/slide170.xml"/><Relationship Id="rId179" Type="http://schemas.openxmlformats.org/officeDocument/2006/relationships/slide" Target="slides/slide171.xml"/><Relationship Id="rId180" Type="http://schemas.openxmlformats.org/officeDocument/2006/relationships/slide" Target="slides/slide172.xml"/><Relationship Id="rId181" Type="http://schemas.openxmlformats.org/officeDocument/2006/relationships/slide" Target="slides/slide173.xml"/><Relationship Id="rId182" Type="http://schemas.openxmlformats.org/officeDocument/2006/relationships/slide" Target="slides/slide174.xml"/><Relationship Id="rId183" Type="http://schemas.openxmlformats.org/officeDocument/2006/relationships/slide" Target="slides/slide175.xml"/><Relationship Id="rId184" Type="http://schemas.openxmlformats.org/officeDocument/2006/relationships/slide" Target="slides/slide176.xml"/><Relationship Id="rId185" Type="http://schemas.openxmlformats.org/officeDocument/2006/relationships/slide" Target="slides/slide177.xml"/><Relationship Id="rId186" Type="http://schemas.openxmlformats.org/officeDocument/2006/relationships/slide" Target="slides/slide178.xml"/><Relationship Id="rId187" Type="http://schemas.openxmlformats.org/officeDocument/2006/relationships/slide" Target="slides/slide179.xml"/><Relationship Id="rId188" Type="http://schemas.openxmlformats.org/officeDocument/2006/relationships/slide" Target="slides/slide180.xml"/><Relationship Id="rId189" Type="http://schemas.openxmlformats.org/officeDocument/2006/relationships/slide" Target="slides/slide181.xml"/><Relationship Id="rId190" Type="http://schemas.openxmlformats.org/officeDocument/2006/relationships/slide" Target="slides/slide182.xml"/><Relationship Id="rId191" Type="http://schemas.openxmlformats.org/officeDocument/2006/relationships/slide" Target="slides/slide183.xml"/><Relationship Id="rId192" Type="http://schemas.openxmlformats.org/officeDocument/2006/relationships/slide" Target="slides/slide184.xml"/><Relationship Id="rId193" Type="http://schemas.openxmlformats.org/officeDocument/2006/relationships/slide" Target="slides/slide185.xml"/><Relationship Id="rId194" Type="http://schemas.openxmlformats.org/officeDocument/2006/relationships/slide" Target="slides/slide186.xml"/><Relationship Id="rId195" Type="http://schemas.openxmlformats.org/officeDocument/2006/relationships/slide" Target="slides/slide187.xml"/><Relationship Id="rId196" Type="http://schemas.openxmlformats.org/officeDocument/2006/relationships/slide" Target="slides/slide188.xml"/><Relationship Id="rId197" Type="http://schemas.openxmlformats.org/officeDocument/2006/relationships/slide" Target="slides/slide189.xml"/><Relationship Id="rId198" Type="http://schemas.openxmlformats.org/officeDocument/2006/relationships/slide" Target="slides/slide190.xml"/><Relationship Id="rId199" Type="http://schemas.openxmlformats.org/officeDocument/2006/relationships/slide" Target="slides/slide191.xml"/><Relationship Id="rId200" Type="http://schemas.openxmlformats.org/officeDocument/2006/relationships/slide" Target="slides/slide192.xml"/><Relationship Id="rId201" Type="http://schemas.openxmlformats.org/officeDocument/2006/relationships/slide" Target="slides/slide193.xml"/><Relationship Id="rId202" Type="http://schemas.openxmlformats.org/officeDocument/2006/relationships/slide" Target="slides/slide194.xml"/><Relationship Id="rId203" Type="http://schemas.openxmlformats.org/officeDocument/2006/relationships/slide" Target="slides/slide195.xml"/><Relationship Id="rId204" Type="http://schemas.openxmlformats.org/officeDocument/2006/relationships/slide" Target="slides/slide196.xml"/><Relationship Id="rId205" Type="http://schemas.openxmlformats.org/officeDocument/2006/relationships/slide" Target="slides/slide197.xml"/><Relationship Id="rId206" Type="http://schemas.openxmlformats.org/officeDocument/2006/relationships/slide" Target="slides/slide198.xml"/><Relationship Id="rId207" Type="http://schemas.openxmlformats.org/officeDocument/2006/relationships/slide" Target="slides/slide199.xml"/><Relationship Id="rId208" Type="http://schemas.openxmlformats.org/officeDocument/2006/relationships/slide" Target="slides/slide200.xml"/><Relationship Id="rId209" Type="http://schemas.openxmlformats.org/officeDocument/2006/relationships/slide" Target="slides/slide201.xml"/><Relationship Id="rId210" Type="http://schemas.openxmlformats.org/officeDocument/2006/relationships/slide" Target="slides/slide202.xml"/><Relationship Id="rId211" Type="http://schemas.openxmlformats.org/officeDocument/2006/relationships/slide" Target="slides/slide203.xml"/><Relationship Id="rId215" Type="http://schemas.openxmlformats.org/officeDocument/2006/relationships/slide" Target="slides/slide204.xml"/><Relationship Id="rId216" Type="http://schemas.openxmlformats.org/officeDocument/2006/relationships/slide" Target="slides/slide20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9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0.xlsx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1.xlsx"/></Relationships>
</file>

<file path=ppt/charts/_rels/chart2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2.xlsx"/></Relationships>
</file>

<file path=ppt/charts/_rels/chart2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3.xlsx"/></Relationships>
</file>

<file path=ppt/charts/_rels/chart2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4.xlsx"/></Relationships>
</file>

<file path=ppt/charts/_rels/chart2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5.xlsx"/></Relationships>
</file>

<file path=ppt/charts/_rels/chart2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6.xlsx"/></Relationships>
</file>

<file path=ppt/charts/_rels/chart2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7.xlsx"/></Relationships>
</file>

<file path=ppt/charts/_rels/chart2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8.xlsx"/></Relationships>
</file>

<file path=ppt/charts/_rels/chart2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9.xlsx"/></Relationships>
</file>

<file path=ppt/charts/_rels/chart3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0.xlsx"/></Relationships>
</file>

<file path=ppt/charts/_rels/chart3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1.xlsx"/></Relationships>
</file>

<file path=ppt/charts/_rels/chart3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2.xlsx"/></Relationships>
</file>

<file path=ppt/charts/_rels/chart3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3.xlsx"/></Relationships>
</file>

<file path=ppt/charts/_rels/chart3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4.xlsx"/></Relationships>
</file>

<file path=ppt/charts/_rels/chart3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5.xlsx"/></Relationships>
</file>

<file path=ppt/charts/_rels/chart3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6.xlsx"/></Relationships>
</file>

<file path=ppt/charts/_rels/chart3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7.xlsx"/></Relationships>
</file>

<file path=ppt/charts/_rels/chart3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8.xlsx"/></Relationships>
</file>

<file path=ppt/charts/_rels/chart3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9.xlsx"/></Relationships>
</file>

<file path=ppt/charts/_rels/chart4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Leads</c:v>
                </c:pt>
              </c:strCache>
            </c:strRef>
          </c:tx>
          <c:dPt>
            <c:idx val="0"/>
            <c:spPr>
              <a:solidFill>
                <a:srgbClr val="677686"/>
              </a:solidFill>
            </c:spPr>
          </c:dPt>
          <c:dPt>
            <c:idx val="1"/>
            <c:spPr>
              <a:solidFill>
                <a:srgbClr val="2D64B8"/>
              </a:solidFill>
            </c:spPr>
          </c:dPt>
          <c:dPt>
            <c:idx val="2"/>
            <c:spPr>
              <a:solidFill>
                <a:srgbClr val="00929A"/>
              </a:solidFill>
            </c:spPr>
          </c:dPt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Variant A</c:v>
                </c:pt>
                <c:pt idx="2">
                  <c:v>Variant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25.0</c:v>
                </c:pt>
                <c:pt idx="2">
                  <c:v>32.0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Qualified visits</c:v>
                </c:pt>
              </c:strCache>
            </c:strRef>
          </c:tx>
          <c:dPt>
            <c:idx val="0"/>
            <c:spPr>
              <a:solidFill>
                <a:srgbClr val="677686"/>
              </a:solidFill>
            </c:spPr>
          </c:dPt>
          <c:dPt>
            <c:idx val="1"/>
            <c:spPr>
              <a:solidFill>
                <a:srgbClr val="2D64B8"/>
              </a:solidFill>
            </c:spPr>
          </c:dPt>
          <c:dPt>
            <c:idx val="2"/>
            <c:spPr>
              <a:solidFill>
                <a:srgbClr val="00929A"/>
              </a:solidFill>
            </c:spPr>
          </c:dPt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Variant A</c:v>
                </c:pt>
                <c:pt idx="2">
                  <c:v>Variant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210.0</c:v>
                </c:pt>
                <c:pt idx="1">
                  <c:v>260.0</c:v>
                </c:pt>
                <c:pt idx="2">
                  <c:v>305.0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Click rate</c:v>
                </c:pt>
              </c:strCache>
            </c:strRef>
          </c:tx>
          <c:dPt>
            <c:idx val="0"/>
            <c:spPr>
              <a:solidFill>
                <a:srgbClr val="677686"/>
              </a:solidFill>
            </c:spPr>
          </c:dPt>
          <c:dPt>
            <c:idx val="1"/>
            <c:spPr>
              <a:solidFill>
                <a:srgbClr val="2D64B8"/>
              </a:solidFill>
            </c:spPr>
          </c:dPt>
          <c:dPt>
            <c:idx val="2"/>
            <c:spPr>
              <a:solidFill>
                <a:srgbClr val="00929A"/>
              </a:solidFill>
            </c:spPr>
          </c:dPt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Variant A</c:v>
                </c:pt>
                <c:pt idx="2">
                  <c:v>Variant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1.5</c:v>
                </c:pt>
                <c:pt idx="1">
                  <c:v>2.1</c:v>
                </c:pt>
                <c:pt idx="2">
                  <c:v>2.8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Save rate</c:v>
                </c:pt>
              </c:strCache>
            </c:strRef>
          </c:tx>
          <c:dPt>
            <c:idx val="0"/>
            <c:spPr>
              <a:solidFill>
                <a:srgbClr val="677686"/>
              </a:solidFill>
            </c:spPr>
          </c:dPt>
          <c:dPt>
            <c:idx val="1"/>
            <c:spPr>
              <a:solidFill>
                <a:srgbClr val="2D64B8"/>
              </a:solidFill>
            </c:spPr>
          </c:dPt>
          <c:dPt>
            <c:idx val="2"/>
            <c:spPr>
              <a:solidFill>
                <a:srgbClr val="00929A"/>
              </a:solidFill>
            </c:spPr>
          </c:dPt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Variant A</c:v>
                </c:pt>
                <c:pt idx="2">
                  <c:v>Variant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1.2</c:v>
                </c:pt>
                <c:pt idx="1">
                  <c:v>1.8</c:v>
                </c:pt>
                <c:pt idx="2">
                  <c:v>2.4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Approval rate</c:v>
                </c:pt>
              </c:strCache>
            </c:strRef>
          </c:tx>
          <c:dPt>
            <c:idx val="0"/>
            <c:spPr>
              <a:solidFill>
                <a:srgbClr val="677686"/>
              </a:solidFill>
            </c:spPr>
          </c:dPt>
          <c:dPt>
            <c:idx val="1"/>
            <c:spPr>
              <a:solidFill>
                <a:srgbClr val="2D64B8"/>
              </a:solidFill>
            </c:spPr>
          </c:dPt>
          <c:dPt>
            <c:idx val="2"/>
            <c:spPr>
              <a:solidFill>
                <a:srgbClr val="00929A"/>
              </a:solidFill>
            </c:spPr>
          </c:dPt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Variant A</c:v>
                </c:pt>
                <c:pt idx="2">
                  <c:v>Variant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42.0</c:v>
                </c:pt>
                <c:pt idx="1">
                  <c:v>65.0</c:v>
                </c:pt>
                <c:pt idx="2">
                  <c:v>81.0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Qualified actions</c:v>
                </c:pt>
              </c:strCache>
            </c:strRef>
          </c:tx>
          <c:dPt>
            <c:idx val="0"/>
            <c:spPr>
              <a:solidFill>
                <a:srgbClr val="677686"/>
              </a:solidFill>
            </c:spPr>
          </c:dPt>
          <c:dPt>
            <c:idx val="1"/>
            <c:spPr>
              <a:solidFill>
                <a:srgbClr val="2D64B8"/>
              </a:solidFill>
            </c:spPr>
          </c:dPt>
          <c:dPt>
            <c:idx val="2"/>
            <c:spPr>
              <a:solidFill>
                <a:srgbClr val="00929A"/>
              </a:solidFill>
            </c:spPr>
          </c:dPt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Variant A</c:v>
                </c:pt>
                <c:pt idx="2">
                  <c:v>Variant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14.0</c:v>
                </c:pt>
                <c:pt idx="1">
                  <c:v>19.0</c:v>
                </c:pt>
                <c:pt idx="2">
                  <c:v>27.0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Usable drafts</c:v>
                </c:pt>
              </c:strCache>
            </c:strRef>
          </c:tx>
          <c:dPt>
            <c:idx val="0"/>
            <c:spPr>
              <a:solidFill>
                <a:srgbClr val="677686"/>
              </a:solidFill>
            </c:spPr>
          </c:dPt>
          <c:dPt>
            <c:idx val="1"/>
            <c:spPr>
              <a:solidFill>
                <a:srgbClr val="2D64B8"/>
              </a:solidFill>
            </c:spPr>
          </c:dPt>
          <c:dPt>
            <c:idx val="2"/>
            <c:spPr>
              <a:solidFill>
                <a:srgbClr val="00929A"/>
              </a:solidFill>
            </c:spPr>
          </c:dPt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Variant A</c:v>
                </c:pt>
                <c:pt idx="2">
                  <c:v>Variant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2.0</c:v>
                </c:pt>
                <c:pt idx="1">
                  <c:v>5.0</c:v>
                </c:pt>
                <c:pt idx="2">
                  <c:v>8.0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Claims approved</c:v>
                </c:pt>
              </c:strCache>
            </c:strRef>
          </c:tx>
          <c:dPt>
            <c:idx val="0"/>
            <c:spPr>
              <a:solidFill>
                <a:srgbClr val="677686"/>
              </a:solidFill>
            </c:spPr>
          </c:dPt>
          <c:dPt>
            <c:idx val="1"/>
            <c:spPr>
              <a:solidFill>
                <a:srgbClr val="2D64B8"/>
              </a:solidFill>
            </c:spPr>
          </c:dPt>
          <c:dPt>
            <c:idx val="2"/>
            <c:spPr>
              <a:solidFill>
                <a:srgbClr val="00929A"/>
              </a:solidFill>
            </c:spPr>
          </c:dPt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Variant A</c:v>
                </c:pt>
                <c:pt idx="2">
                  <c:v>Variant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5.0</c:v>
                </c:pt>
                <c:pt idx="1">
                  <c:v>8.0</c:v>
                </c:pt>
                <c:pt idx="2">
                  <c:v>10.0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Opt-in advocates</c:v>
                </c:pt>
              </c:strCache>
            </c:strRef>
          </c:tx>
          <c:dPt>
            <c:idx val="0"/>
            <c:spPr>
              <a:solidFill>
                <a:srgbClr val="677686"/>
              </a:solidFill>
            </c:spPr>
          </c:dPt>
          <c:dPt>
            <c:idx val="1"/>
            <c:spPr>
              <a:solidFill>
                <a:srgbClr val="2D64B8"/>
              </a:solidFill>
            </c:spPr>
          </c:dPt>
          <c:dPt>
            <c:idx val="2"/>
            <c:spPr>
              <a:solidFill>
                <a:srgbClr val="00929A"/>
              </a:solidFill>
            </c:spPr>
          </c:dPt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Variant A</c:v>
                </c:pt>
                <c:pt idx="2">
                  <c:v>Variant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8.0</c:v>
                </c:pt>
                <c:pt idx="1">
                  <c:v>15.0</c:v>
                </c:pt>
                <c:pt idx="2">
                  <c:v>23.0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Contribution margin</c:v>
                </c:pt>
              </c:strCache>
            </c:strRef>
          </c:tx>
          <c:dPt>
            <c:idx val="0"/>
            <c:spPr>
              <a:solidFill>
                <a:srgbClr val="677686"/>
              </a:solidFill>
            </c:spPr>
          </c:dPt>
          <c:dPt>
            <c:idx val="1"/>
            <c:spPr>
              <a:solidFill>
                <a:srgbClr val="2D64B8"/>
              </a:solidFill>
            </c:spPr>
          </c:dPt>
          <c:dPt>
            <c:idx val="2"/>
            <c:spPr>
              <a:solidFill>
                <a:srgbClr val="00929A"/>
              </a:solidFill>
            </c:spPr>
          </c:dPt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Variant A</c:v>
                </c:pt>
                <c:pt idx="2">
                  <c:v>Variant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20.0</c:v>
                </c:pt>
                <c:pt idx="1">
                  <c:v>28.0</c:v>
                </c:pt>
                <c:pt idx="2">
                  <c:v>36.0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Fit score</c:v>
                </c:pt>
              </c:strCache>
            </c:strRef>
          </c:tx>
          <c:dPt>
            <c:idx val="0"/>
            <c:spPr>
              <a:solidFill>
                <a:srgbClr val="677686"/>
              </a:solidFill>
            </c:spPr>
          </c:dPt>
          <c:dPt>
            <c:idx val="1"/>
            <c:spPr>
              <a:solidFill>
                <a:srgbClr val="2D64B8"/>
              </a:solidFill>
            </c:spPr>
          </c:dPt>
          <c:dPt>
            <c:idx val="2"/>
            <c:spPr>
              <a:solidFill>
                <a:srgbClr val="00929A"/>
              </a:solidFill>
            </c:spPr>
          </c:dPt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Variant A</c:v>
                </c:pt>
                <c:pt idx="2">
                  <c:v>Variant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58.0</c:v>
                </c:pt>
                <c:pt idx="1">
                  <c:v>72.0</c:v>
                </c:pt>
                <c:pt idx="2">
                  <c:v>83.0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Completion rate</c:v>
                </c:pt>
              </c:strCache>
            </c:strRef>
          </c:tx>
          <c:dPt>
            <c:idx val="0"/>
            <c:spPr>
              <a:solidFill>
                <a:srgbClr val="677686"/>
              </a:solidFill>
            </c:spPr>
          </c:dPt>
          <c:dPt>
            <c:idx val="1"/>
            <c:spPr>
              <a:solidFill>
                <a:srgbClr val="2D64B8"/>
              </a:solidFill>
            </c:spPr>
          </c:dPt>
          <c:dPt>
            <c:idx val="2"/>
            <c:spPr>
              <a:solidFill>
                <a:srgbClr val="00929A"/>
              </a:solidFill>
            </c:spPr>
          </c:dPt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Variant A</c:v>
                </c:pt>
                <c:pt idx="2">
                  <c:v>Variant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12.0</c:v>
                </c:pt>
                <c:pt idx="1">
                  <c:v>19.0</c:v>
                </c:pt>
                <c:pt idx="2">
                  <c:v>27.0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Response rate</c:v>
                </c:pt>
              </c:strCache>
            </c:strRef>
          </c:tx>
          <c:dPt>
            <c:idx val="0"/>
            <c:spPr>
              <a:solidFill>
                <a:srgbClr val="677686"/>
              </a:solidFill>
            </c:spPr>
          </c:dPt>
          <c:dPt>
            <c:idx val="1"/>
            <c:spPr>
              <a:solidFill>
                <a:srgbClr val="2D64B8"/>
              </a:solidFill>
            </c:spPr>
          </c:dPt>
          <c:dPt>
            <c:idx val="2"/>
            <c:spPr>
              <a:solidFill>
                <a:srgbClr val="00929A"/>
              </a:solidFill>
            </c:spPr>
          </c:dPt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Variant A</c:v>
                </c:pt>
                <c:pt idx="2">
                  <c:v>Variant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35.0</c:v>
                </c:pt>
                <c:pt idx="1">
                  <c:v>49.0</c:v>
                </c:pt>
                <c:pt idx="2">
                  <c:v>62.0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Qualified leads</c:v>
                </c:pt>
              </c:strCache>
            </c:strRef>
          </c:tx>
          <c:dPt>
            <c:idx val="0"/>
            <c:spPr>
              <a:solidFill>
                <a:srgbClr val="677686"/>
              </a:solidFill>
            </c:spPr>
          </c:dPt>
          <c:dPt>
            <c:idx val="1"/>
            <c:spPr>
              <a:solidFill>
                <a:srgbClr val="2D64B8"/>
              </a:solidFill>
            </c:spPr>
          </c:dPt>
          <c:dPt>
            <c:idx val="2"/>
            <c:spPr>
              <a:solidFill>
                <a:srgbClr val="00929A"/>
              </a:solidFill>
            </c:spPr>
          </c:dPt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Variant A</c:v>
                </c:pt>
                <c:pt idx="2">
                  <c:v>Variant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7.0</c:v>
                </c:pt>
                <c:pt idx="1">
                  <c:v>12.0</c:v>
                </c:pt>
                <c:pt idx="2">
                  <c:v>17.0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3-second hold</c:v>
                </c:pt>
              </c:strCache>
            </c:strRef>
          </c:tx>
          <c:dPt>
            <c:idx val="0"/>
            <c:spPr>
              <a:solidFill>
                <a:srgbClr val="677686"/>
              </a:solidFill>
            </c:spPr>
          </c:dPt>
          <c:dPt>
            <c:idx val="1"/>
            <c:spPr>
              <a:solidFill>
                <a:srgbClr val="2D64B8"/>
              </a:solidFill>
            </c:spPr>
          </c:dPt>
          <c:dPt>
            <c:idx val="2"/>
            <c:spPr>
              <a:solidFill>
                <a:srgbClr val="00929A"/>
              </a:solidFill>
            </c:spPr>
          </c:dPt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Variant A</c:v>
                </c:pt>
                <c:pt idx="2">
                  <c:v>Variant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24.0</c:v>
                </c:pt>
                <c:pt idx="1">
                  <c:v>35.0</c:v>
                </c:pt>
                <c:pt idx="2">
                  <c:v>46.0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Unique reach</c:v>
                </c:pt>
              </c:strCache>
            </c:strRef>
          </c:tx>
          <c:dPt>
            <c:idx val="0"/>
            <c:spPr>
              <a:solidFill>
                <a:srgbClr val="677686"/>
              </a:solidFill>
            </c:spPr>
          </c:dPt>
          <c:dPt>
            <c:idx val="1"/>
            <c:spPr>
              <a:solidFill>
                <a:srgbClr val="2D64B8"/>
              </a:solidFill>
            </c:spPr>
          </c:dPt>
          <c:dPt>
            <c:idx val="2"/>
            <c:spPr>
              <a:solidFill>
                <a:srgbClr val="00929A"/>
              </a:solidFill>
            </c:spPr>
          </c:dPt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Variant A</c:v>
                </c:pt>
                <c:pt idx="2">
                  <c:v>Variant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1200.0</c:v>
                </c:pt>
                <c:pt idx="1">
                  <c:v>1600.0</c:v>
                </c:pt>
                <c:pt idx="2">
                  <c:v>1950.0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Local relevance</c:v>
                </c:pt>
              </c:strCache>
            </c:strRef>
          </c:tx>
          <c:dPt>
            <c:idx val="0"/>
            <c:spPr>
              <a:solidFill>
                <a:srgbClr val="677686"/>
              </a:solidFill>
            </c:spPr>
          </c:dPt>
          <c:dPt>
            <c:idx val="1"/>
            <c:spPr>
              <a:solidFill>
                <a:srgbClr val="2D64B8"/>
              </a:solidFill>
            </c:spPr>
          </c:dPt>
          <c:dPt>
            <c:idx val="2"/>
            <c:spPr>
              <a:solidFill>
                <a:srgbClr val="00929A"/>
              </a:solidFill>
            </c:spPr>
          </c:dPt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Variant A</c:v>
                </c:pt>
                <c:pt idx="2">
                  <c:v>Variant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61.0</c:v>
                </c:pt>
                <c:pt idx="1">
                  <c:v>76.0</c:v>
                </c:pt>
                <c:pt idx="2">
                  <c:v>88.0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Expected leads</c:v>
                </c:pt>
              </c:strCache>
            </c:strRef>
          </c:tx>
          <c:dPt>
            <c:idx val="0"/>
            <c:spPr>
              <a:solidFill>
                <a:srgbClr val="677686"/>
              </a:solidFill>
            </c:spPr>
          </c:dPt>
          <c:dPt>
            <c:idx val="1"/>
            <c:spPr>
              <a:solidFill>
                <a:srgbClr val="2D64B8"/>
              </a:solidFill>
            </c:spPr>
          </c:dPt>
          <c:dPt>
            <c:idx val="2"/>
            <c:spPr>
              <a:solidFill>
                <a:srgbClr val="00929A"/>
              </a:solidFill>
            </c:spPr>
          </c:dPt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Variant A</c:v>
                </c:pt>
                <c:pt idx="2">
                  <c:v>Variant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20.0</c:v>
                </c:pt>
                <c:pt idx="1">
                  <c:v>34.0</c:v>
                </c:pt>
                <c:pt idx="2">
                  <c:v>46.0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Consented events</c:v>
                </c:pt>
              </c:strCache>
            </c:strRef>
          </c:tx>
          <c:dPt>
            <c:idx val="0"/>
            <c:spPr>
              <a:solidFill>
                <a:srgbClr val="677686"/>
              </a:solidFill>
            </c:spPr>
          </c:dPt>
          <c:dPt>
            <c:idx val="1"/>
            <c:spPr>
              <a:solidFill>
                <a:srgbClr val="2D64B8"/>
              </a:solidFill>
            </c:spPr>
          </c:dPt>
          <c:dPt>
            <c:idx val="2"/>
            <c:spPr>
              <a:solidFill>
                <a:srgbClr val="00929A"/>
              </a:solidFill>
            </c:spPr>
          </c:dPt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Variant A</c:v>
                </c:pt>
                <c:pt idx="2">
                  <c:v>Variant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40.0</c:v>
                </c:pt>
                <c:pt idx="1">
                  <c:v>65.0</c:v>
                </c:pt>
                <c:pt idx="2">
                  <c:v>86.0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Conversion rate</c:v>
                </c:pt>
              </c:strCache>
            </c:strRef>
          </c:tx>
          <c:dPt>
            <c:idx val="0"/>
            <c:spPr>
              <a:solidFill>
                <a:srgbClr val="677686"/>
              </a:solidFill>
            </c:spPr>
          </c:dPt>
          <c:dPt>
            <c:idx val="1"/>
            <c:spPr>
              <a:solidFill>
                <a:srgbClr val="2D64B8"/>
              </a:solidFill>
            </c:spPr>
          </c:dPt>
          <c:dPt>
            <c:idx val="2"/>
            <c:spPr>
              <a:solidFill>
                <a:srgbClr val="00929A"/>
              </a:solidFill>
            </c:spPr>
          </c:dPt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Variant A</c:v>
                </c:pt>
                <c:pt idx="2">
                  <c:v>Variant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1.1</c:v>
                </c:pt>
                <c:pt idx="1">
                  <c:v>1.5</c:v>
                </c:pt>
                <c:pt idx="2">
                  <c:v>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Click rate</c:v>
                </c:pt>
              </c:strCache>
            </c:strRef>
          </c:tx>
          <c:dPt>
            <c:idx val="0"/>
            <c:spPr>
              <a:solidFill>
                <a:srgbClr val="677686"/>
              </a:solidFill>
            </c:spPr>
          </c:dPt>
          <c:dPt>
            <c:idx val="1"/>
            <c:spPr>
              <a:solidFill>
                <a:srgbClr val="2D64B8"/>
              </a:solidFill>
            </c:spPr>
          </c:dPt>
          <c:dPt>
            <c:idx val="2"/>
            <c:spPr>
              <a:solidFill>
                <a:srgbClr val="00929A"/>
              </a:solidFill>
            </c:spPr>
          </c:dPt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Variant A</c:v>
                </c:pt>
                <c:pt idx="2">
                  <c:v>Variant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1.2</c:v>
                </c:pt>
                <c:pt idx="1">
                  <c:v>1.9</c:v>
                </c:pt>
                <c:pt idx="2">
                  <c:v>2.5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Discovery visits</c:v>
                </c:pt>
              </c:strCache>
            </c:strRef>
          </c:tx>
          <c:dPt>
            <c:idx val="0"/>
            <c:spPr>
              <a:solidFill>
                <a:srgbClr val="677686"/>
              </a:solidFill>
            </c:spPr>
          </c:dPt>
          <c:dPt>
            <c:idx val="1"/>
            <c:spPr>
              <a:solidFill>
                <a:srgbClr val="2D64B8"/>
              </a:solidFill>
            </c:spPr>
          </c:dPt>
          <c:dPt>
            <c:idx val="2"/>
            <c:spPr>
              <a:solidFill>
                <a:srgbClr val="00929A"/>
              </a:solidFill>
            </c:spPr>
          </c:dPt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Variant A</c:v>
                </c:pt>
                <c:pt idx="2">
                  <c:v>Variant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90.0</c:v>
                </c:pt>
                <c:pt idx="1">
                  <c:v>130.0</c:v>
                </c:pt>
                <c:pt idx="2">
                  <c:v>170.0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Asset approval</c:v>
                </c:pt>
              </c:strCache>
            </c:strRef>
          </c:tx>
          <c:dPt>
            <c:idx val="0"/>
            <c:spPr>
              <a:solidFill>
                <a:srgbClr val="677686"/>
              </a:solidFill>
            </c:spPr>
          </c:dPt>
          <c:dPt>
            <c:idx val="1"/>
            <c:spPr>
              <a:solidFill>
                <a:srgbClr val="2D64B8"/>
              </a:solidFill>
            </c:spPr>
          </c:dPt>
          <c:dPt>
            <c:idx val="2"/>
            <c:spPr>
              <a:solidFill>
                <a:srgbClr val="00929A"/>
              </a:solidFill>
            </c:spPr>
          </c:dPt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Variant A</c:v>
                </c:pt>
                <c:pt idx="2">
                  <c:v>Variant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45.0</c:v>
                </c:pt>
                <c:pt idx="1">
                  <c:v>65.0</c:v>
                </c:pt>
                <c:pt idx="2">
                  <c:v>82.0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6-second hold</c:v>
                </c:pt>
              </c:strCache>
            </c:strRef>
          </c:tx>
          <c:dPt>
            <c:idx val="0"/>
            <c:spPr>
              <a:solidFill>
                <a:srgbClr val="677686"/>
              </a:solidFill>
            </c:spPr>
          </c:dPt>
          <c:dPt>
            <c:idx val="1"/>
            <c:spPr>
              <a:solidFill>
                <a:srgbClr val="2D64B8"/>
              </a:solidFill>
            </c:spPr>
          </c:dPt>
          <c:dPt>
            <c:idx val="2"/>
            <c:spPr>
              <a:solidFill>
                <a:srgbClr val="00929A"/>
              </a:solidFill>
            </c:spPr>
          </c:dPt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Variant A</c:v>
                </c:pt>
                <c:pt idx="2">
                  <c:v>Variant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28.0</c:v>
                </c:pt>
                <c:pt idx="1">
                  <c:v>39.0</c:v>
                </c:pt>
                <c:pt idx="2">
                  <c:v>51.0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Qualified clicks</c:v>
                </c:pt>
              </c:strCache>
            </c:strRef>
          </c:tx>
          <c:dPt>
            <c:idx val="0"/>
            <c:spPr>
              <a:solidFill>
                <a:srgbClr val="677686"/>
              </a:solidFill>
            </c:spPr>
          </c:dPt>
          <c:dPt>
            <c:idx val="1"/>
            <c:spPr>
              <a:solidFill>
                <a:srgbClr val="2D64B8"/>
              </a:solidFill>
            </c:spPr>
          </c:dPt>
          <c:dPt>
            <c:idx val="2"/>
            <c:spPr>
              <a:solidFill>
                <a:srgbClr val="00929A"/>
              </a:solidFill>
            </c:spPr>
          </c:dPt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Variant A</c:v>
                </c:pt>
                <c:pt idx="2">
                  <c:v>Variant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42.0</c:v>
                </c:pt>
                <c:pt idx="1">
                  <c:v>56.0</c:v>
                </c:pt>
                <c:pt idx="2">
                  <c:v>70.0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Lead rate</c:v>
                </c:pt>
              </c:strCache>
            </c:strRef>
          </c:tx>
          <c:dPt>
            <c:idx val="0"/>
            <c:spPr>
              <a:solidFill>
                <a:srgbClr val="677686"/>
              </a:solidFill>
            </c:spPr>
          </c:dPt>
          <c:dPt>
            <c:idx val="1"/>
            <c:spPr>
              <a:solidFill>
                <a:srgbClr val="2D64B8"/>
              </a:solidFill>
            </c:spPr>
          </c:dPt>
          <c:dPt>
            <c:idx val="2"/>
            <c:spPr>
              <a:solidFill>
                <a:srgbClr val="00929A"/>
              </a:solidFill>
            </c:spPr>
          </c:dPt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Variant A</c:v>
                </c:pt>
                <c:pt idx="2">
                  <c:v>Variant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1.4</c:v>
                </c:pt>
                <c:pt idx="1">
                  <c:v>2.0</c:v>
                </c:pt>
                <c:pt idx="2">
                  <c:v>2.6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Cost per lead</c:v>
                </c:pt>
              </c:strCache>
            </c:strRef>
          </c:tx>
          <c:dPt>
            <c:idx val="0"/>
            <c:spPr>
              <a:solidFill>
                <a:srgbClr val="677686"/>
              </a:solidFill>
            </c:spPr>
          </c:dPt>
          <c:dPt>
            <c:idx val="1"/>
            <c:spPr>
              <a:solidFill>
                <a:srgbClr val="2D64B8"/>
              </a:solidFill>
            </c:spPr>
          </c:dPt>
          <c:dPt>
            <c:idx val="2"/>
            <c:spPr>
              <a:solidFill>
                <a:srgbClr val="00929A"/>
              </a:solidFill>
            </c:spPr>
          </c:dPt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Variant A</c:v>
                </c:pt>
                <c:pt idx="2">
                  <c:v>Variant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34.0</c:v>
                </c:pt>
                <c:pt idx="1">
                  <c:v>28.0</c:v>
                </c:pt>
                <c:pt idx="2">
                  <c:v>22.0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On-time posts</c:v>
                </c:pt>
              </c:strCache>
            </c:strRef>
          </c:tx>
          <c:dPt>
            <c:idx val="0"/>
            <c:spPr>
              <a:solidFill>
                <a:srgbClr val="677686"/>
              </a:solidFill>
            </c:spPr>
          </c:dPt>
          <c:dPt>
            <c:idx val="1"/>
            <c:spPr>
              <a:solidFill>
                <a:srgbClr val="2D64B8"/>
              </a:solidFill>
            </c:spPr>
          </c:dPt>
          <c:dPt>
            <c:idx val="2"/>
            <c:spPr>
              <a:solidFill>
                <a:srgbClr val="00929A"/>
              </a:solidFill>
            </c:spPr>
          </c:dPt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Variant A</c:v>
                </c:pt>
                <c:pt idx="2">
                  <c:v>Variant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55.0</c:v>
                </c:pt>
                <c:pt idx="1">
                  <c:v>72.0</c:v>
                </c:pt>
                <c:pt idx="2">
                  <c:v>90.0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Approved UGC</c:v>
                </c:pt>
              </c:strCache>
            </c:strRef>
          </c:tx>
          <c:dPt>
            <c:idx val="0"/>
            <c:spPr>
              <a:solidFill>
                <a:srgbClr val="677686"/>
              </a:solidFill>
            </c:spPr>
          </c:dPt>
          <c:dPt>
            <c:idx val="1"/>
            <c:spPr>
              <a:solidFill>
                <a:srgbClr val="2D64B8"/>
              </a:solidFill>
            </c:spPr>
          </c:dPt>
          <c:dPt>
            <c:idx val="2"/>
            <c:spPr>
              <a:solidFill>
                <a:srgbClr val="00929A"/>
              </a:solidFill>
            </c:spPr>
          </c:dPt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Variant A</c:v>
                </c:pt>
                <c:pt idx="2">
                  <c:v>Variant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4.0</c:v>
                </c:pt>
                <c:pt idx="1">
                  <c:v>7.0</c:v>
                </c:pt>
                <c:pt idx="2">
                  <c:v>10.0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Resolved cases</c:v>
                </c:pt>
              </c:strCache>
            </c:strRef>
          </c:tx>
          <c:dPt>
            <c:idx val="0"/>
            <c:spPr>
              <a:solidFill>
                <a:srgbClr val="677686"/>
              </a:solidFill>
            </c:spPr>
          </c:dPt>
          <c:dPt>
            <c:idx val="1"/>
            <c:spPr>
              <a:solidFill>
                <a:srgbClr val="2D64B8"/>
              </a:solidFill>
            </c:spPr>
          </c:dPt>
          <c:dPt>
            <c:idx val="2"/>
            <c:spPr>
              <a:solidFill>
                <a:srgbClr val="00929A"/>
              </a:solidFill>
            </c:spPr>
          </c:dPt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Variant A</c:v>
                </c:pt>
                <c:pt idx="2">
                  <c:v>Variant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14.0</c:v>
                </c:pt>
                <c:pt idx="1">
                  <c:v>21.0</c:v>
                </c:pt>
                <c:pt idx="2">
                  <c:v>28.0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Matched leads</c:v>
                </c:pt>
              </c:strCache>
            </c:strRef>
          </c:tx>
          <c:dPt>
            <c:idx val="0"/>
            <c:spPr>
              <a:solidFill>
                <a:srgbClr val="677686"/>
              </a:solidFill>
            </c:spPr>
          </c:dPt>
          <c:dPt>
            <c:idx val="1"/>
            <c:spPr>
              <a:solidFill>
                <a:srgbClr val="2D64B8"/>
              </a:solidFill>
            </c:spPr>
          </c:dPt>
          <c:dPt>
            <c:idx val="2"/>
            <c:spPr>
              <a:solidFill>
                <a:srgbClr val="00929A"/>
              </a:solidFill>
            </c:spPr>
          </c:dPt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Variant A</c:v>
                </c:pt>
                <c:pt idx="2">
                  <c:v>Variant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35.0</c:v>
                </c:pt>
                <c:pt idx="1">
                  <c:v>52.0</c:v>
                </c:pt>
                <c:pt idx="2">
                  <c:v>68.0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Lead conversion</c:v>
                </c:pt>
              </c:strCache>
            </c:strRef>
          </c:tx>
          <c:dPt>
            <c:idx val="0"/>
            <c:spPr>
              <a:solidFill>
                <a:srgbClr val="677686"/>
              </a:solidFill>
            </c:spPr>
          </c:dPt>
          <c:dPt>
            <c:idx val="1"/>
            <c:spPr>
              <a:solidFill>
                <a:srgbClr val="2D64B8"/>
              </a:solidFill>
            </c:spPr>
          </c:dPt>
          <c:dPt>
            <c:idx val="2"/>
            <c:spPr>
              <a:solidFill>
                <a:srgbClr val="00929A"/>
              </a:solidFill>
            </c:spPr>
          </c:dPt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Variant A</c:v>
                </c:pt>
                <c:pt idx="2">
                  <c:v>Variant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1.3</c:v>
                </c:pt>
                <c:pt idx="1">
                  <c:v>2.1</c:v>
                </c:pt>
                <c:pt idx="2">
                  <c:v>3.0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CTR</c:v>
                </c:pt>
              </c:strCache>
            </c:strRef>
          </c:tx>
          <c:dPt>
            <c:idx val="0"/>
            <c:spPr>
              <a:solidFill>
                <a:srgbClr val="677686"/>
              </a:solidFill>
            </c:spPr>
          </c:dPt>
          <c:dPt>
            <c:idx val="1"/>
            <c:spPr>
              <a:solidFill>
                <a:srgbClr val="2D64B8"/>
              </a:solidFill>
            </c:spPr>
          </c:dPt>
          <c:dPt>
            <c:idx val="2"/>
            <c:spPr>
              <a:solidFill>
                <a:srgbClr val="00929A"/>
              </a:solidFill>
            </c:spPr>
          </c:dPt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Variant A</c:v>
                </c:pt>
                <c:pt idx="2">
                  <c:v>Variant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1.1</c:v>
                </c:pt>
                <c:pt idx="1">
                  <c:v>1.8</c:v>
                </c:pt>
                <c:pt idx="2">
                  <c:v>2.4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ROAS</c:v>
                </c:pt>
              </c:strCache>
            </c:strRef>
          </c:tx>
          <c:dPt>
            <c:idx val="0"/>
            <c:spPr>
              <a:solidFill>
                <a:srgbClr val="677686"/>
              </a:solidFill>
            </c:spPr>
          </c:dPt>
          <c:dPt>
            <c:idx val="1"/>
            <c:spPr>
              <a:solidFill>
                <a:srgbClr val="2D64B8"/>
              </a:solidFill>
            </c:spPr>
          </c:dPt>
          <c:dPt>
            <c:idx val="2"/>
            <c:spPr>
              <a:solidFill>
                <a:srgbClr val="00929A"/>
              </a:solidFill>
            </c:spPr>
          </c:dPt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Variant A</c:v>
                </c:pt>
                <c:pt idx="2">
                  <c:v>Variant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1.4</c:v>
                </c:pt>
                <c:pt idx="1">
                  <c:v>2.0</c:v>
                </c:pt>
                <c:pt idx="2">
                  <c:v>2.8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Frequency</c:v>
                </c:pt>
              </c:strCache>
            </c:strRef>
          </c:tx>
          <c:dPt>
            <c:idx val="0"/>
            <c:spPr>
              <a:solidFill>
                <a:srgbClr val="677686"/>
              </a:solidFill>
            </c:spPr>
          </c:dPt>
          <c:dPt>
            <c:idx val="1"/>
            <c:spPr>
              <a:solidFill>
                <a:srgbClr val="2D64B8"/>
              </a:solidFill>
            </c:spPr>
          </c:dPt>
          <c:dPt>
            <c:idx val="2"/>
            <c:spPr>
              <a:solidFill>
                <a:srgbClr val="00929A"/>
              </a:solidFill>
            </c:spPr>
          </c:dPt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Variant A</c:v>
                </c:pt>
                <c:pt idx="2">
                  <c:v>Variant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1.8</c:v>
                </c:pt>
                <c:pt idx="1">
                  <c:v>2.6</c:v>
                </c:pt>
                <c:pt idx="2">
                  <c:v>3.7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Conversion rate</c:v>
                </c:pt>
              </c:strCache>
            </c:strRef>
          </c:tx>
          <c:dPt>
            <c:idx val="0"/>
            <c:spPr>
              <a:solidFill>
                <a:srgbClr val="677686"/>
              </a:solidFill>
            </c:spPr>
          </c:dPt>
          <c:dPt>
            <c:idx val="1"/>
            <c:spPr>
              <a:solidFill>
                <a:srgbClr val="2D64B8"/>
              </a:solidFill>
            </c:spPr>
          </c:dPt>
          <c:dPt>
            <c:idx val="2"/>
            <c:spPr>
              <a:solidFill>
                <a:srgbClr val="00929A"/>
              </a:solidFill>
            </c:spPr>
          </c:dPt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Variant A</c:v>
                </c:pt>
                <c:pt idx="2">
                  <c:v>Variant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1.2</c:v>
                </c:pt>
                <c:pt idx="1">
                  <c:v>1.6</c:v>
                </c:pt>
                <c:pt idx="2">
                  <c:v>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Actionable insights</c:v>
                </c:pt>
              </c:strCache>
            </c:strRef>
          </c:tx>
          <c:dPt>
            <c:idx val="0"/>
            <c:spPr>
              <a:solidFill>
                <a:srgbClr val="677686"/>
              </a:solidFill>
            </c:spPr>
          </c:dPt>
          <c:dPt>
            <c:idx val="1"/>
            <c:spPr>
              <a:solidFill>
                <a:srgbClr val="2D64B8"/>
              </a:solidFill>
            </c:spPr>
          </c:dPt>
          <c:dPt>
            <c:idx val="2"/>
            <c:spPr>
              <a:solidFill>
                <a:srgbClr val="00929A"/>
              </a:solidFill>
            </c:spPr>
          </c:dPt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Variant A</c:v>
                </c:pt>
                <c:pt idx="2">
                  <c:v>Variant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2.0</c:v>
                </c:pt>
                <c:pt idx="1">
                  <c:v>4.0</c:v>
                </c:pt>
                <c:pt idx="2">
                  <c:v>6.0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Recovered leads</c:v>
                </c:pt>
              </c:strCache>
            </c:strRef>
          </c:tx>
          <c:dPt>
            <c:idx val="0"/>
            <c:spPr>
              <a:solidFill>
                <a:srgbClr val="677686"/>
              </a:solidFill>
            </c:spPr>
          </c:dPt>
          <c:dPt>
            <c:idx val="1"/>
            <c:spPr>
              <a:solidFill>
                <a:srgbClr val="2D64B8"/>
              </a:solidFill>
            </c:spPr>
          </c:dPt>
          <c:dPt>
            <c:idx val="2"/>
            <c:spPr>
              <a:solidFill>
                <a:srgbClr val="00929A"/>
              </a:solidFill>
            </c:spPr>
          </c:dPt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Variant A</c:v>
                </c:pt>
                <c:pt idx="2">
                  <c:v>Variant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6.0</c:v>
                </c:pt>
                <c:pt idx="1">
                  <c:v>11.0</c:v>
                </c:pt>
                <c:pt idx="2">
                  <c:v>17.0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Qualified leads</c:v>
                </c:pt>
              </c:strCache>
            </c:strRef>
          </c:tx>
          <c:dPt>
            <c:idx val="0"/>
            <c:spPr>
              <a:solidFill>
                <a:srgbClr val="677686"/>
              </a:solidFill>
            </c:spPr>
          </c:dPt>
          <c:dPt>
            <c:idx val="1"/>
            <c:spPr>
              <a:solidFill>
                <a:srgbClr val="2D64B8"/>
              </a:solidFill>
            </c:spPr>
          </c:dPt>
          <c:dPt>
            <c:idx val="2"/>
            <c:spPr>
              <a:solidFill>
                <a:srgbClr val="00929A"/>
              </a:solidFill>
            </c:spPr>
          </c:dPt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Variant A</c:v>
                </c:pt>
                <c:pt idx="2">
                  <c:v>Variant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14.0</c:v>
                </c:pt>
                <c:pt idx="1">
                  <c:v>20.0</c:v>
                </c:pt>
                <c:pt idx="2">
                  <c:v>27.0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Hours saved</c:v>
                </c:pt>
              </c:strCache>
            </c:strRef>
          </c:tx>
          <c:dPt>
            <c:idx val="0"/>
            <c:spPr>
              <a:solidFill>
                <a:srgbClr val="677686"/>
              </a:solidFill>
            </c:spPr>
          </c:dPt>
          <c:dPt>
            <c:idx val="1"/>
            <c:spPr>
              <a:solidFill>
                <a:srgbClr val="2D64B8"/>
              </a:solidFill>
            </c:spPr>
          </c:dPt>
          <c:dPt>
            <c:idx val="2"/>
            <c:spPr>
              <a:solidFill>
                <a:srgbClr val="00929A"/>
              </a:solidFill>
            </c:spPr>
          </c:dPt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Variant A</c:v>
                </c:pt>
                <c:pt idx="2">
                  <c:v>Variant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4.0</c:v>
                </c:pt>
                <c:pt idx="1">
                  <c:v>8.0</c:v>
                </c:pt>
                <c:pt idx="2">
                  <c:v>12.0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3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4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5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6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8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9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0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1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2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3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4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5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6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8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9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0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1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2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3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4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5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6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8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9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0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ver-hero-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6147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48006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024128"/>
            <a:ext cx="109728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078992"/>
            <a:ext cx="38862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900" b="1">
                <a:solidFill>
                  <a:srgbClr val="112A49"/>
                </a:solidFill>
                <a:latin typeface="Aptos"/>
              </a:defRPr>
            </a:pPr>
            <a:r>
              <a:t>Generative AI for Social Media Marketing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3913632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929A"/>
                </a:solidFill>
                <a:latin typeface="Aptos"/>
              </a:defRPr>
            </a:pPr>
            <a:r>
              <a:t>NON-WSQ COURSE • C1468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475488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77686"/>
                </a:solidFill>
                <a:latin typeface="Aptos"/>
              </a:defRPr>
            </a:pPr>
            <a:r>
              <a:rPr/>
              <a:t>2 days • 15 hours</a:t>
            </a:r>
          </a:p>
          <a:p>
            <a:r>
              <a:rPr/>
              <a:t>Version v1.0 • 13 Sep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6144768"/>
            <a:ext cx="3886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12A49"/>
                </a:solidFill>
                <a:latin typeface="Aptos"/>
              </a:defRPr>
            </a:pPr>
            <a:r>
              <a:t>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6473952"/>
            <a:ext cx="3886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686"/>
                </a:solidFill>
                <a:latin typeface="Aptos"/>
              </a:defRPr>
            </a:pPr>
            <a:r>
              <a:t>UEN 201200696W</a:t>
            </a:r>
          </a:p>
        </p:txBody>
      </p:sp>
      <p:pic>
        <p:nvPicPr>
          <p:cNvPr id="11" name="Picture 10" descr="tertiary-infotech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228600"/>
            <a:ext cx="493776" cy="49377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12A49"/>
                </a:solidFill>
                <a:latin typeface="Aptos"/>
              </a:defRPr>
            </a:pPr>
            <a:r>
              <a:t>Trainer profile template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107899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29A"/>
                </a:solidFill>
                <a:latin typeface="Aptos"/>
              </a:defRPr>
            </a:pPr>
            <a:r>
              <a:t>Trainer details are completed for the actual delivery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56231"/>
            <a:ext cx="5212080" cy="347472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856231"/>
            <a:ext cx="82296" cy="347472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2020824"/>
            <a:ext cx="4828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Role and credentials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606039"/>
            <a:ext cx="4800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Trainer name, relevant qualification and industry experience.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856231"/>
            <a:ext cx="5212080" cy="347472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856231"/>
            <a:ext cx="82296" cy="347472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7" y="2020824"/>
            <a:ext cx="4828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Session responsibilities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4807" y="2606039"/>
            <a:ext cx="4800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Demonstrate the workflow, review evidence and support practice.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647395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12A49"/>
                </a:solidFill>
                <a:latin typeface="Aptos"/>
              </a:defRPr>
            </a:pPr>
            <a:r>
              <a:t>Dr Alfred 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107899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29A"/>
                </a:solidFill>
                <a:latin typeface="Aptos"/>
              </a:defRPr>
            </a:pPr>
            <a:r>
              <a:t>Course developer and trainer profile • verified from supplied resume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56231"/>
            <a:ext cx="5212080" cy="347472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856231"/>
            <a:ext cx="82296" cy="347472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2020824"/>
            <a:ext cx="4828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Background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606039"/>
            <a:ext cx="4800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Founder of Tertiary Courses; PhD in Electrical and Electronics Engineering, NUS.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856231"/>
            <a:ext cx="5212080" cy="347472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856231"/>
            <a:ext cx="82296" cy="347472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7" y="2020824"/>
            <a:ext cx="4828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Training practice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4807" y="2606039"/>
            <a:ext cx="4800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ACTA-certified trainer and DACE-certified curriculum developer; teaches AI and digital technology.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647395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01  Campaign objective and KPI tree: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29A"/>
                </a:solidFill>
                <a:latin typeface="Aptos"/>
              </a:defRPr>
            </a:pPr>
            <a:r>
              <a:t>INPUT → TRANSFORM → OUTPUT → 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1  Evidence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business goal, audience, baseline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2  AI-assisted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map goal to one primary conversion event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45936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3  Reviewable artifact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SMART brief and KPI owner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6608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4  Control 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Choose lead volume only with quality guardrail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Source trace: official  •  Lab 01  •  Human approval precedes publication.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01  Campaign objective and KPI tree: reusable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325880"/>
            <a:ext cx="7223760" cy="4251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54480"/>
            <a:ext cx="664768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ROLE  Social media campaign analyst for a Singapore SME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INPUT  business goal, audience, baseline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TASK  map goal to one primary conversion event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RETURN  SMART brief and KPI owner; include a source column, assumption flag and reviewer decision.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RULE  Choose lead volume only with quality guardrail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325880"/>
            <a:ext cx="3529584" cy="1856231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65008" y="1325880"/>
            <a:ext cx="82296" cy="1856231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490472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Acceptance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075688"/>
            <a:ext cx="3118103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Output contains the requested artifact, source trace and explicit assumptions.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3401568"/>
            <a:ext cx="3529584" cy="2185416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3401568"/>
            <a:ext cx="82296" cy="2185416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3566160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4151376"/>
            <a:ext cx="3118103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Vanity engagement masks low-intent traffic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Copy the detailed prompt from the matching lab PDF; never paste personal customer data into an unapproved tool.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01  Campaign objective and KPI tree: worked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CHART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435608"/>
          <a:ext cx="649224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61504" y="1517904"/>
            <a:ext cx="4005072" cy="1883664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61504" y="1517904"/>
            <a:ext cx="82296" cy="1883664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62672" y="1682495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Read the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2267712"/>
            <a:ext cx="3593591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Leads: 18 → 25 → 32. Synthetic teaching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61504" y="3639312"/>
            <a:ext cx="4005072" cy="1938528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61504" y="3639312"/>
            <a:ext cx="82296" cy="19385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2" y="3803904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4389120"/>
            <a:ext cx="3593591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Choose lead volume only with quality guardrail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All chart values are mock examples, not claimed platform benchmarks. Confirm metric definitions before comparison.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01  Campaign objective and KPI tree: 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201168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9961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Gate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389888"/>
            <a:ext cx="48006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6624" y="14996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Evidence to inspect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9208" y="1389888"/>
            <a:ext cx="43434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07224" y="149961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11095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057400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Input quality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8608" y="1911095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6624" y="2057400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business goal, audience, baseline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9208" y="1911095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2057400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Hold if unverified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834639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2980944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Output fitness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8608" y="2834639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6624" y="2980944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SMART brief and KPI owner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79208" y="2834639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07224" y="2980944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Choose lead volume only with quality guardrail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758183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904487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Risk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78608" y="3758183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06624" y="3904487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Vanity engagement masks low-intent traffic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79208" y="3758183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07224" y="3904487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Escalate or revise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681728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4828032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Metric readout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78608" y="4681728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6624" y="4828032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Leads and source rows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79208" y="4681728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07224" y="4828032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Record baseline → test → decision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The decision belongs to the campaign owner; the model is a drafting and analysis aid.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01  Campaign objective and KPI tree: review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Artifact to retain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SMART brief and KPI owner. Record the input source, prompt version, reviewer, date and final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Failure 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Vanity engagement masks low-intent traffic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Release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Choose lead volume only with quality guardrail. Recheck leads against the campaign objective after launch.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Lab 01 evidence: save the artifact, decision and one corrected revision. Source: official.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02  Audience evidence and consent: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29A"/>
                </a:solidFill>
                <a:latin typeface="Aptos"/>
              </a:defRPr>
            </a:pPr>
            <a:r>
              <a:t>INPUT → TRANSFORM → OUTPUT → 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1  Evidence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aggregate insights, interview notes, consent status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2  AI-assisted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separate observed signal from AI inference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45936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3  Reviewable artifact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evidence-backed audience segment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6608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4  Control 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Reject personas without a source and confidence tag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Source trace: IBM  •  Lab 01  •  Human approval precedes publication.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02  Audience evidence and consent: reusable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325880"/>
            <a:ext cx="7223760" cy="4251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54480"/>
            <a:ext cx="664768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ROLE  Social media campaign analyst for a Singapore SME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INPUT  aggregate insights, interview notes, consent status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TASK  separate observed signal from AI inference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RETURN  evidence-backed audience segment; include a source column, assumption flag and reviewer decision.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RULE  Reject personas without a source and confidence tag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325880"/>
            <a:ext cx="3529584" cy="1856231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65008" y="1325880"/>
            <a:ext cx="82296" cy="1856231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490472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Acceptance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075688"/>
            <a:ext cx="3118103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Output contains the requested artifact, source trace and explicit assumptions.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3401568"/>
            <a:ext cx="3529584" cy="2185416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3401568"/>
            <a:ext cx="82296" cy="2185416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3566160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4151376"/>
            <a:ext cx="3118103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Inferred sensitive traits can breach trust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Copy the detailed prompt from the matching lab PDF; never paste personal customer data into an unapproved tool.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02  Audience evidence and consent: worked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CHART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435608"/>
          <a:ext cx="649224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61504" y="1517904"/>
            <a:ext cx="4005072" cy="1883664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61504" y="1517904"/>
            <a:ext cx="82296" cy="1883664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62672" y="1682495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Read the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2267712"/>
            <a:ext cx="3593591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Qualified visits: 210 → 260 → 305. Synthetic teaching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61504" y="3639312"/>
            <a:ext cx="4005072" cy="1938528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61504" y="3639312"/>
            <a:ext cx="82296" cy="19385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2" y="3803904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4389120"/>
            <a:ext cx="3593591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Reject personas without a source and confidence tag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All chart values are mock examples, not claimed platform benchmarks. Confirm metric definitions before comparison.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02  Audience evidence and consent: 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201168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9961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Gate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389888"/>
            <a:ext cx="48006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6624" y="14996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Evidence to inspect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9208" y="1389888"/>
            <a:ext cx="43434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07224" y="149961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11095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057400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Input quality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8608" y="1911095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6624" y="2057400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aggregate insights, interview notes, consent status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9208" y="1911095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2057400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Hold if unverified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834639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2980944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Output fitness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8608" y="2834639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6624" y="2980944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evidence-backed audience segment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79208" y="2834639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07224" y="2980944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Reject personas without a source and confidence tag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758183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904487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Risk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78608" y="3758183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06624" y="3904487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Inferred sensitive traits can breach trust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79208" y="3758183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07224" y="3904487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Escalate or revise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681728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4828032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Metric readout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78608" y="4681728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6624" y="4828032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Qualified visits and source rows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79208" y="4681728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07224" y="4828032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Record baseline → test → decision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The decision belongs to the campaign owner; the model is a drafting and analysis aid.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02  Audience evidence and consent: review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Artifact to retain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evidence-backed audience segment. Record the input source, prompt version, reviewer, date and final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Failure 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Inferred sensitive traits can breach trust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Release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Reject personas without a source and confidence tag. Recheck qualified visits against the campaign objective after launch.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Lab 01 evidence: save the artifact, decision and one corrected revision. Source: IBM.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03  Customer journey mapping: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29A"/>
                </a:solidFill>
                <a:latin typeface="Aptos"/>
              </a:defRPr>
            </a:pPr>
            <a:r>
              <a:t>INPUT → TRANSFORM → OUTPUT → 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1  Evidence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awareness questions, comparison needs, conversion friction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2  AI-assisted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link each stage to content, CTA and metric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45936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3  Reviewable artifact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journey-to-content matrix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6608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4  Control 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Every stage needs a testable next action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Source trace: legacy:46-51  •  Lab 01  •  Human approval precedes publication.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03  Customer journey mapping: reusable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325880"/>
            <a:ext cx="7223760" cy="4251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54480"/>
            <a:ext cx="664768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ROLE  Social media campaign analyst for a Singapore SME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INPUT  awareness questions, comparison needs, conversion friction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TASK  link each stage to content, CTA and metric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RETURN  journey-to-content matrix; include a source column, assumption flag and reviewer decision.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RULE  Every stage needs a testable next action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325880"/>
            <a:ext cx="3529584" cy="1856231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65008" y="1325880"/>
            <a:ext cx="82296" cy="1856231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490472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Acceptance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075688"/>
            <a:ext cx="3118103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Output contains the requested artifact, source trace and explicit assumptions.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3401568"/>
            <a:ext cx="3529584" cy="2185416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3401568"/>
            <a:ext cx="82296" cy="2185416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3566160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4151376"/>
            <a:ext cx="3118103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 single post cannot serve every intent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Copy the detailed prompt from the matching lab PDF; never paste personal customer data into an unapproved tool.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03  Customer journey mapping: worked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CHART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435608"/>
          <a:ext cx="649224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61504" y="1517904"/>
            <a:ext cx="4005072" cy="1883664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61504" y="1517904"/>
            <a:ext cx="82296" cy="1883664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62672" y="1682495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Read the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2267712"/>
            <a:ext cx="3593591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Click rate: 1.5 → 2.1 → 2.8. Synthetic teaching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61504" y="3639312"/>
            <a:ext cx="4005072" cy="1938528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61504" y="3639312"/>
            <a:ext cx="82296" cy="19385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2" y="3803904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4389120"/>
            <a:ext cx="3593591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Every stage needs a testable next 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All chart values are mock examples, not claimed platform benchmarks. Confirm metric definitions before comparison.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03  Customer journey mapping: 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201168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9961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Gate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389888"/>
            <a:ext cx="48006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6624" y="14996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Evidence to inspect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9208" y="1389888"/>
            <a:ext cx="43434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07224" y="149961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11095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057400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Input quality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8608" y="1911095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6624" y="2057400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awareness questions, comparison needs, conversion friction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9208" y="1911095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2057400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Hold if unverified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834639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2980944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Output fitness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8608" y="2834639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6624" y="2980944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journey-to-content matrix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79208" y="2834639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07224" y="2980944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Every stage needs a testable next action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758183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904487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Risk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78608" y="3758183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06624" y="3904487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A single post cannot serve every intent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79208" y="3758183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07224" y="3904487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Escalate or revise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681728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4828032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Metric readout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78608" y="4681728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6624" y="4828032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Click rate and source rows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79208" y="4681728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07224" y="4828032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Record baseline → test → decision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The decision belongs to the campaign owner; the model is a drafting and analysis aid.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03  Customer journey mapping: review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Artifact to retain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journey-to-content matrix. Record the input source, prompt version, reviewer, date and final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Failure 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 single post cannot serve every intent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Release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Every stage needs a testable next action. Recheck click rate against the campaign objective after launch.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Lab 01 evidence: save the artifact, decision and one corrected revision. Source: legacy:46-51.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04  Competitive content audit: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29A"/>
                </a:solidFill>
                <a:latin typeface="Aptos"/>
              </a:defRPr>
            </a:pPr>
            <a:r>
              <a:t>INPUT → TRANSFORM → OUTPUT → 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1  Evidence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five public competitor posts, dates, formats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2  AI-assisted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code hooks, proof, CTA and engagement by format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45936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3  Reviewable artifact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gap and differentiation map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6608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4  Control 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Adapt the unmet need, not the competitor wording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Source trace: legacy:52-55  •  Lab 01  •  Human approval precedes publication.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04  Competitive content audit: reusable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325880"/>
            <a:ext cx="7223760" cy="4251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54480"/>
            <a:ext cx="664768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ROLE  Social media campaign analyst for a Singapore SME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INPUT  five public competitor posts, dates, formats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TASK  code hooks, proof, CTA and engagement by format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RETURN  gap and differentiation map; include a source column, assumption flag and reviewer decision.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RULE  Adapt the unmet need, not the competitor wording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325880"/>
            <a:ext cx="3529584" cy="1856231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65008" y="1325880"/>
            <a:ext cx="82296" cy="1856231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490472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Acceptance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075688"/>
            <a:ext cx="3118103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Output contains the requested artifact, source trace and explicit assumptions.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3401568"/>
            <a:ext cx="3529584" cy="2185416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3401568"/>
            <a:ext cx="82296" cy="2185416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3566160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4151376"/>
            <a:ext cx="3118103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Copying creative weakens differentiation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Copy the detailed prompt from the matching lab PDF; never paste personal customer data into an unapproved tool.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04  Competitive content audit: worked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21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CHART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435608"/>
          <a:ext cx="649224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61504" y="1517904"/>
            <a:ext cx="4005072" cy="1883664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61504" y="1517904"/>
            <a:ext cx="82296" cy="1883664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62672" y="1682495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Read the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2267712"/>
            <a:ext cx="3593591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Save rate: 1.2 → 1.8 → 2.4. Synthetic teaching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61504" y="3639312"/>
            <a:ext cx="4005072" cy="1938528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61504" y="3639312"/>
            <a:ext cx="82296" cy="19385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2" y="3803904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4389120"/>
            <a:ext cx="3593591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Adapt the unmet need, not the competitor wording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All chart values are mock examples, not claimed platform benchmarks. Confirm metric definitions before comparison.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04  Competitive content audit: 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22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201168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9961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Gate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389888"/>
            <a:ext cx="48006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6624" y="14996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Evidence to inspect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9208" y="1389888"/>
            <a:ext cx="43434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07224" y="149961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11095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057400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Input quality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8608" y="1911095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6624" y="2057400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five public competitor posts, dates, formats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9208" y="1911095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2057400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Hold if unverified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834639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2980944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Output fitness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8608" y="2834639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6624" y="2980944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gap and differentiation map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79208" y="2834639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07224" y="2980944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Adapt the unmet need, not the competitor wording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758183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904487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Risk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78608" y="3758183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06624" y="3904487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Copying creative weakens differentiation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79208" y="3758183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07224" y="3904487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Escalate or revise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681728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4828032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Metric readout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78608" y="4681728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6624" y="4828032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Save rate and source rows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79208" y="4681728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07224" y="4828032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Record baseline → test → decision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The decision belongs to the campaign owner; the model is a drafting and analysis aid.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04  Competitive content audit: review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23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Artifact to retain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gap and differentiation map. Record the input source, prompt version, reviewer, date and final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Failure 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Copying creative weakens differentiation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Release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Adapt the unmet need, not the competitor wording. Recheck save rate against the campaign objective after launch.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Lab 01 evidence: save the artifact, decision and one corrected revision. Source: legacy:52-55.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05  Campaign brief and brand voice: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24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29A"/>
                </a:solidFill>
                <a:latin typeface="Aptos"/>
              </a:defRPr>
            </a:pPr>
            <a:r>
              <a:t>INPUT → TRANSFORM → OUTPUT → 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1  Evidence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offer facts, audience, exclusions, voice rules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2  AI-assisted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constrain AI output with proof and prohibited claims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45936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3  Reviewable artifact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approved creative brief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6608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4  Control 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Approve only claims supported by source facts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Source trace: HBR  •  Lab 01  •  Human approval precedes publication.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05  Campaign brief and brand voice: reusable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25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325880"/>
            <a:ext cx="7223760" cy="4251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54480"/>
            <a:ext cx="664768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ROLE  Social media campaign analyst for a Singapore SME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INPUT  offer facts, audience, exclusions, voice rules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TASK  constrain AI output with proof and prohibited claims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RETURN  approved creative brief; include a source column, assumption flag and reviewer decision.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RULE  Approve only claims supported by source facts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325880"/>
            <a:ext cx="3529584" cy="1856231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65008" y="1325880"/>
            <a:ext cx="82296" cy="1856231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490472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Acceptance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075688"/>
            <a:ext cx="3118103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Output contains the requested artifact, source trace and explicit assumptions.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3401568"/>
            <a:ext cx="3529584" cy="2185416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3401568"/>
            <a:ext cx="82296" cy="2185416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3566160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4151376"/>
            <a:ext cx="3118103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AI may invent benefits and testimonials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Copy the detailed prompt from the matching lab PDF; never paste personal customer data into an unapproved tool.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05  Campaign brief and brand voice: worked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26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CHART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435608"/>
          <a:ext cx="649224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61504" y="1517904"/>
            <a:ext cx="4005072" cy="1883664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61504" y="1517904"/>
            <a:ext cx="82296" cy="1883664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62672" y="1682495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Read the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2267712"/>
            <a:ext cx="3593591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Approval rate: 42 → 65 → 81. Synthetic teaching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61504" y="3639312"/>
            <a:ext cx="4005072" cy="1938528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61504" y="3639312"/>
            <a:ext cx="82296" cy="19385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2" y="3803904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4389120"/>
            <a:ext cx="3593591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Approve only claims supported by source facts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All chart values are mock examples, not claimed platform benchmarks. Confirm metric definitions before comparison.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05  Campaign brief and brand voice: 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27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201168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9961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Gate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389888"/>
            <a:ext cx="48006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6624" y="14996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Evidence to inspect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9208" y="1389888"/>
            <a:ext cx="43434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07224" y="149961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11095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057400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Input quality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8608" y="1911095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6624" y="2057400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offer facts, audience, exclusions, voice rules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9208" y="1911095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2057400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Hold if unverified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834639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2980944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Output fitness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8608" y="2834639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6624" y="2980944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approved creative brief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79208" y="2834639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07224" y="2980944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Approve only claims supported by source facts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758183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904487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Risk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78608" y="3758183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06624" y="3904487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AI may invent benefits and testimonials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79208" y="3758183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07224" y="3904487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Escalate or revise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681728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4828032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Metric readout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78608" y="4681728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6624" y="4828032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Approval rate and source rows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79208" y="4681728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07224" y="4828032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Record baseline → test → decision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The decision belongs to the campaign owner; the model is a drafting and analysis aid.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05  Campaign brief and brand voice: review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28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Artifact to retain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approved creative brief. Record the input source, prompt version, reviewer, date and final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Failure 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AI may invent benefits and testimonials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Release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Approve only claims supported by source facts. Recheck approval rate against the campaign objective after launch.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Lab 01 evidence: save the artifact, decision and one corrected revision. Source: HBR.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06  Content pillar allocation: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29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29A"/>
                </a:solidFill>
                <a:latin typeface="Aptos"/>
              </a:defRPr>
            </a:pPr>
            <a:r>
              <a:t>INPUT → TRANSFORM → OUTPUT → 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1  Evidence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brand goal, journey stages, available production hours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2  AI-assisted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allocate educate, proof and offer posts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45936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3  Reviewable artifact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four-week pillar mix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6608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4  Control 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Rebalance when a pillar misses its intended KPI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Source trace: legacy:59-61  •  Lab 02  •  Human approval precedes publication.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06  Content pillar allocation: reusable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30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325880"/>
            <a:ext cx="7223760" cy="4251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54480"/>
            <a:ext cx="664768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ROLE  Social media campaign analyst for a Singapore SME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INPUT  brand goal, journey stages, available production hours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TASK  allocate educate, proof and offer posts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RETURN  four-week pillar mix; include a source column, assumption flag and reviewer decision.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RULE  Rebalance when a pillar misses its intended KPI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325880"/>
            <a:ext cx="3529584" cy="1856231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65008" y="1325880"/>
            <a:ext cx="82296" cy="1856231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490472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Acceptance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075688"/>
            <a:ext cx="3118103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Output contains the requested artifact, source trace and explicit assumptions.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3401568"/>
            <a:ext cx="3529584" cy="2185416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3401568"/>
            <a:ext cx="82296" cy="2185416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3566160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4151376"/>
            <a:ext cx="3118103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Posting volume is not a strategy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Copy the detailed prompt from the matching lab PDF; never paste personal customer data into an unapproved tool.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06  Content pillar allocation: worked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31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CHART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435608"/>
          <a:ext cx="649224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61504" y="1517904"/>
            <a:ext cx="4005072" cy="1883664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61504" y="1517904"/>
            <a:ext cx="82296" cy="1883664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62672" y="1682495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Read the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2267712"/>
            <a:ext cx="3593591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Qualified actions: 14 → 19 → 27. Synthetic teaching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61504" y="3639312"/>
            <a:ext cx="4005072" cy="1938528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61504" y="3639312"/>
            <a:ext cx="82296" cy="19385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2" y="3803904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4389120"/>
            <a:ext cx="3593591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Rebalance when a pillar misses its intended KPI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All chart values are mock examples, not claimed platform benchmarks. Confirm metric definitions before comparison.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06  Content pillar allocation: 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32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201168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9961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Gate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389888"/>
            <a:ext cx="48006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6624" y="14996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Evidence to inspect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9208" y="1389888"/>
            <a:ext cx="43434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07224" y="149961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11095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057400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Input quality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8608" y="1911095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6624" y="2057400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brand goal, journey stages, available production hours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9208" y="1911095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2057400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Hold if unverified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834639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2980944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Output fitness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8608" y="2834639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6624" y="2980944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four-week pillar mix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79208" y="2834639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07224" y="2980944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Rebalance when a pillar misses its intended KPI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758183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904487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Risk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78608" y="3758183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06624" y="3904487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Posting volume is not a strategy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79208" y="3758183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07224" y="3904487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Escalate or revise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681728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4828032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Metric readout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78608" y="4681728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6624" y="4828032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Qualified actions and source rows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79208" y="4681728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07224" y="4828032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Record baseline → test → decision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The decision belongs to the campaign owner; the model is a drafting and analysis aid.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06  Content pillar allocation: review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33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Artifact to retain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four-week pillar mix. Record the input source, prompt version, reviewer, date and final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Failure 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Posting volume is not a strategy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Release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Rebalance when a pillar misses its intended KPI. Recheck qualified actions against the campaign objective after launch.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Lab 02 evidence: save the artifact, decision and one corrected revision. Source: legacy:59-61.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07  Prompt specification: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34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29A"/>
                </a:solidFill>
                <a:latin typeface="Aptos"/>
              </a:defRPr>
            </a:pPr>
            <a:r>
              <a:t>INPUT → TRANSFORM → OUTPUT → 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1  Evidence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role, audience, facts, format, constraints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2  AI-assisted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supply structured context and acceptance criteria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45936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3  Reviewable artifact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repeatable prompt template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6608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4  Control 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Keep facts and output schema explicit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Source trace: AI Strategy 2025  •  Lab 02  •  Human approval precedes publication.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07  Prompt specification: reusable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35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325880"/>
            <a:ext cx="7223760" cy="4251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54480"/>
            <a:ext cx="664768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ROLE  Social media campaign analyst for a Singapore SME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INPUT  role, audience, facts, format, constraints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TASK  supply structured context and acceptance criteria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RETURN  repeatable prompt template; include a source column, assumption flag and reviewer decision.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RULE  Keep facts and output schema explicit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325880"/>
            <a:ext cx="3529584" cy="1856231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65008" y="1325880"/>
            <a:ext cx="82296" cy="1856231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490472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Acceptance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075688"/>
            <a:ext cx="3118103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Output contains the requested artifact, source trace and explicit assumptions.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3401568"/>
            <a:ext cx="3529584" cy="2185416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3401568"/>
            <a:ext cx="82296" cy="2185416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3566160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4151376"/>
            <a:ext cx="3118103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Vague prompts produce generic copy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Copy the detailed prompt from the matching lab PDF; never paste personal customer data into an unapproved tool.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07  Prompt specification: worked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36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CHART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435608"/>
          <a:ext cx="649224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61504" y="1517904"/>
            <a:ext cx="4005072" cy="1883664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61504" y="1517904"/>
            <a:ext cx="82296" cy="1883664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62672" y="1682495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Read the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2267712"/>
            <a:ext cx="3593591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Usable drafts: 2 → 5 → 8. Synthetic teaching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61504" y="3639312"/>
            <a:ext cx="4005072" cy="1938528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61504" y="3639312"/>
            <a:ext cx="82296" cy="19385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2" y="3803904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4389120"/>
            <a:ext cx="3593591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Keep facts and output schema explicit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All chart values are mock examples, not claimed platform benchmarks. Confirm metric definitions before comparison.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07  Prompt specification: 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37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201168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9961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Gate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389888"/>
            <a:ext cx="48006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6624" y="14996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Evidence to inspect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9208" y="1389888"/>
            <a:ext cx="43434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07224" y="149961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11095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057400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Input quality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8608" y="1911095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6624" y="2057400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role, audience, facts, format, constraints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9208" y="1911095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2057400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Hold if unverified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834639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2980944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Output fitness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8608" y="2834639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6624" y="2980944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repeatable prompt template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79208" y="2834639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07224" y="2980944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Keep facts and output schema explicit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758183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904487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Risk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78608" y="3758183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06624" y="3904487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Vague prompts produce generic copy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79208" y="3758183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07224" y="3904487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Escalate or revise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681728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4828032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Metric readout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78608" y="4681728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6624" y="4828032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Usable drafts and source rows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79208" y="4681728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07224" y="4828032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Record baseline → test → decision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The decision belongs to the campaign owner; the model is a drafting and analysis aid.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07  Prompt specification: review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38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Artifact to retain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repeatable prompt template. Record the input source, prompt version, reviewer, date and final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Failure 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Vague prompts produce generic copy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Release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Keep facts and output schema explicit. Recheck usable drafts against the campaign objective after launch.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Lab 02 evidence: save the artifact, decision and one corrected revision. Source: AI Strategy 2025.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08  Source-grounded claim review: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39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29A"/>
                </a:solidFill>
                <a:latin typeface="Aptos"/>
              </a:defRPr>
            </a:pPr>
            <a:r>
              <a:t>INPUT → TRANSFORM → OUTPUT → 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1  Evidence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product sheet, price list, campaign brief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2  AI-assisted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trace every generated claim to approved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45936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3  Reviewable artifact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claim-to-source register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6608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4  Control 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Hold unverified comparative or health claims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Source trace: IBM  •  Lab 02  •  Human approval precedes publication.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08  Source-grounded claim review: reusable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40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325880"/>
            <a:ext cx="7223760" cy="4251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54480"/>
            <a:ext cx="664768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ROLE  Social media campaign analyst for a Singapore SME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INPUT  product sheet, price list, campaign brief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TASK  trace every generated claim to approved evidence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RETURN  claim-to-source register; include a source column, assumption flag and reviewer decision.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RULE  Hold unverified comparative or health claims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325880"/>
            <a:ext cx="3529584" cy="1856231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65008" y="1325880"/>
            <a:ext cx="82296" cy="1856231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490472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Acceptance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075688"/>
            <a:ext cx="3118103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Output contains the requested artifact, source trace and explicit assumptions.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3401568"/>
            <a:ext cx="3529584" cy="2185416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3401568"/>
            <a:ext cx="82296" cy="2185416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3566160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4151376"/>
            <a:ext cx="3118103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Confident output is not proof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Copy the detailed prompt from the matching lab PDF; never paste personal customer data into an unapproved tool.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08  Source-grounded claim review: worked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41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CHART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435608"/>
          <a:ext cx="649224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61504" y="1517904"/>
            <a:ext cx="4005072" cy="1883664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61504" y="1517904"/>
            <a:ext cx="82296" cy="1883664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62672" y="1682495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Read the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2267712"/>
            <a:ext cx="3593591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Claims approved: 5 → 8 → 10. Synthetic teaching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61504" y="3639312"/>
            <a:ext cx="4005072" cy="1938528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61504" y="3639312"/>
            <a:ext cx="82296" cy="19385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2" y="3803904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4389120"/>
            <a:ext cx="3593591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Hold unverified comparative or health claims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All chart values are mock examples, not claimed platform benchmarks. Confirm metric definitions before comparison.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08  Source-grounded claim review: 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42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201168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9961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Gate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389888"/>
            <a:ext cx="48006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6624" y="14996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Evidence to inspect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9208" y="1389888"/>
            <a:ext cx="43434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07224" y="149961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11095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057400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Input quality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8608" y="1911095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6624" y="2057400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product sheet, price list, campaign brief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9208" y="1911095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2057400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Hold if unverified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834639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2980944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Output fitness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8608" y="2834639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6624" y="2980944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claim-to-source register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79208" y="2834639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07224" y="2980944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Hold unverified comparative or health claims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758183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904487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Risk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78608" y="3758183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06624" y="3904487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Confident output is not proof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79208" y="3758183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07224" y="3904487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Escalate or revise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681728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4828032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Metric readout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78608" y="4681728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6624" y="4828032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Claims approved and source rows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79208" y="4681728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07224" y="4828032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Record baseline → test → decision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The decision belongs to the campaign owner; the model is a drafting and analysis aid.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08  Source-grounded claim review: review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43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Artifact to retain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claim-to-source register. Record the input source, prompt version, reviewer, date and final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Failure 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Confident output is not proof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Release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Hold unverified comparative or health claims. Recheck claims approved against the campaign objective after launch.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Lab 02 evidence: save the artifact, decision and one corrected revision. Source: IBM.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09  Community advocate plan: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44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29A"/>
                </a:solidFill>
                <a:latin typeface="Aptos"/>
              </a:defRPr>
            </a:pPr>
            <a:r>
              <a:t>INPUT → TRANSFORM → OUTPUT → 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1  Evidence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customer feedback, permission log, loyalty goals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2  AI-assisted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identify advocates and design a voluntary contribution loop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45936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3  Reviewable artifact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advocate engagement plan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6608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4  Control 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Use consented stories with attribution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Source trace: legacy:25,176-178  •  Lab 02  •  Human approval precedes publication.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09  Community advocate plan: reusable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45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325880"/>
            <a:ext cx="7223760" cy="4251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54480"/>
            <a:ext cx="664768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ROLE  Social media campaign analyst for a Singapore SME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INPUT  customer feedback, permission log, loyalty goals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TASK  identify advocates and design a voluntary contribution loop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RETURN  advocate engagement plan; include a source column, assumption flag and reviewer decision.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RULE  Use consented stories with attribution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325880"/>
            <a:ext cx="3529584" cy="1856231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65008" y="1325880"/>
            <a:ext cx="82296" cy="1856231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490472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Acceptance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075688"/>
            <a:ext cx="3118103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Output contains the requested artifact, source trace and explicit assumptions.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3401568"/>
            <a:ext cx="3529584" cy="2185416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3401568"/>
            <a:ext cx="82296" cy="2185416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3566160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4151376"/>
            <a:ext cx="3118103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Incentives can distort authentic reviews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Copy the detailed prompt from the matching lab PDF; never paste personal customer data into an unapproved tool.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09  Community advocate plan: worked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46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CHART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435608"/>
          <a:ext cx="649224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61504" y="1517904"/>
            <a:ext cx="4005072" cy="1883664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61504" y="1517904"/>
            <a:ext cx="82296" cy="1883664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62672" y="1682495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Read the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2267712"/>
            <a:ext cx="3593591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Opt-in advocates: 8 → 15 → 23. Synthetic teaching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61504" y="3639312"/>
            <a:ext cx="4005072" cy="1938528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61504" y="3639312"/>
            <a:ext cx="82296" cy="19385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2" y="3803904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4389120"/>
            <a:ext cx="3593591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Use consented stories with attribution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All chart values are mock examples, not claimed platform benchmarks. Confirm metric definitions before comparison.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09  Community advocate plan: 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47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201168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9961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Gate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389888"/>
            <a:ext cx="48006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6624" y="14996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Evidence to inspect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9208" y="1389888"/>
            <a:ext cx="43434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07224" y="149961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11095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057400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Input quality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8608" y="1911095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6624" y="2057400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customer feedback, permission log, loyalty goals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9208" y="1911095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2057400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Hold if unverified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834639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2980944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Output fitness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8608" y="2834639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6624" y="2980944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advocate engagement plan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79208" y="2834639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07224" y="2980944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Use consented stories with attribution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758183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904487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Risk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78608" y="3758183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06624" y="3904487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Incentives can distort authentic reviews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79208" y="3758183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07224" y="3904487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Escalate or revise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681728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4828032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Metric readout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78608" y="4681728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6624" y="4828032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Opt-in advocates and source rows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79208" y="4681728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07224" y="4828032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Record baseline → test → decision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The decision belongs to the campaign owner; the model is a drafting and analysis aid.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09  Community advocate plan: review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48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Artifact to retain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advocate engagement plan. Record the input source, prompt version, reviewer, date and final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Failure 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Incentives can distort authentic reviews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Release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Use consented stories with attribution. Recheck opt-in advocates against the campaign objective after launch.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Lab 02 evidence: save the artifact, decision and one corrected revision. Source: legacy:25,176-178.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10  Campaign economics: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49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29A"/>
                </a:solidFill>
                <a:latin typeface="Aptos"/>
              </a:defRPr>
            </a:pPr>
            <a:r>
              <a:t>INPUT → TRANSFORM → OUTPUT → 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1  Evidence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gross margin, conversion rate, media budget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2  AI-assisted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derive allowable CPA and break-even ROAS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45936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3  Reviewable artifact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budget guardrail sheet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6608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4  Control 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Stop spend above allowable CPA after sufficient evidence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Source trace: legacy:163-174  •  Lab 02  •  Human approval precedes publication.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10  Campaign economics: reusable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50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325880"/>
            <a:ext cx="7223760" cy="4251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54480"/>
            <a:ext cx="664768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ROLE  Social media campaign analyst for a Singapore SME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INPUT  gross margin, conversion rate, media budget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TASK  derive allowable CPA and break-even ROAS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RETURN  budget guardrail sheet; include a source column, assumption flag and reviewer decision.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RULE  Stop spend above allowable CPA after sufficient evidence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325880"/>
            <a:ext cx="3529584" cy="1856231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65008" y="1325880"/>
            <a:ext cx="82296" cy="1856231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490472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Acceptance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075688"/>
            <a:ext cx="3118103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Output contains the requested artifact, source trace and explicit assumptions.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3401568"/>
            <a:ext cx="3529584" cy="2185416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3401568"/>
            <a:ext cx="82296" cy="2185416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3566160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4151376"/>
            <a:ext cx="3118103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ROAS alone ignores margin and fulfillment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Copy the detailed prompt from the matching lab PDF; never paste personal customer data into an unapproved tool.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10  Campaign economics: worked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51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CHART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435608"/>
          <a:ext cx="649224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61504" y="1517904"/>
            <a:ext cx="4005072" cy="1883664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61504" y="1517904"/>
            <a:ext cx="82296" cy="1883664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62672" y="1682495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Read the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2267712"/>
            <a:ext cx="3593591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Contribution margin: 20 → 28 → 36. Synthetic teaching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61504" y="3639312"/>
            <a:ext cx="4005072" cy="1938528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61504" y="3639312"/>
            <a:ext cx="82296" cy="19385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2" y="3803904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4389120"/>
            <a:ext cx="3593591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Stop spend above allowable CPA after sufficient 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All chart values are mock examples, not claimed platform benchmarks. Confirm metric definitions before comparison.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10  Campaign economics: 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52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201168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9961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Gate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389888"/>
            <a:ext cx="48006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6624" y="14996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Evidence to inspect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9208" y="1389888"/>
            <a:ext cx="43434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07224" y="149961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11095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057400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Input quality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8608" y="1911095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6624" y="2057400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gross margin, conversion rate, media budget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9208" y="1911095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2057400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Hold if unverified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834639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2980944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Output fitness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8608" y="2834639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6624" y="2980944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budget guardrail sheet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79208" y="2834639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07224" y="2980944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Stop spend above allowable CPA after sufficient evidence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758183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904487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Risk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78608" y="3758183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06624" y="3904487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ROAS alone ignores margin and fulfillment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79208" y="3758183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07224" y="3904487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Escalate or revise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681728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4828032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Metric readout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78608" y="4681728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6624" y="4828032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Contribution margin and source rows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79208" y="4681728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07224" y="4828032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Record baseline → test → decision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The decision belongs to the campaign owner; the model is a drafting and analysis aid.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10  Campaign economics: review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53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Artifact to retain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budget guardrail sheet. Record the input source, prompt version, reviewer, date and final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Failure 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ROAS alone ignores margin and fulfillment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Release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Stop spend above allowable CPA after sufficient evidence. Recheck contribution margin against the campaign objective after launch.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Lab 02 evidence: save the artifact, decision and one corrected revision. Source: legacy:163-174.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11  Platform feasibility scoring: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54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29A"/>
                </a:solidFill>
                <a:latin typeface="Aptos"/>
              </a:defRPr>
            </a:pPr>
            <a:r>
              <a:t>INPUT → TRANSFORM → OUTPUT → 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1  Evidence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audience fit, format fit, cost, capability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2  AI-assisted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weight factors and score channels consistently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45936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3  Reviewable artifact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platform selection matrix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6608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4  Control 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Pilot only channels above threshold and with owner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Source trace: legacy:18-24  •  Lab 03  •  Human approval precedes publication.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11  Platform feasibility scoring: reusable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55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325880"/>
            <a:ext cx="7223760" cy="4251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54480"/>
            <a:ext cx="664768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ROLE  Social media campaign analyst for a Singapore SME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INPUT  audience fit, format fit, cost, capability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TASK  weight factors and score channels consistently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RETURN  platform selection matrix; include a source column, assumption flag and reviewer decision.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RULE  Pilot only channels above threshold and with owner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325880"/>
            <a:ext cx="3529584" cy="1856231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65008" y="1325880"/>
            <a:ext cx="82296" cy="1856231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490472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Acceptance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075688"/>
            <a:ext cx="3118103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Output contains the requested artifact, source trace and explicit assumptions.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3401568"/>
            <a:ext cx="3529584" cy="2185416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3401568"/>
            <a:ext cx="82296" cy="2185416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3566160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4151376"/>
            <a:ext cx="3118103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Popularity is not audience fit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Copy the detailed prompt from the matching lab PDF; never paste personal customer data into an unapproved tool.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11  Platform feasibility scoring: worked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56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CHART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435608"/>
          <a:ext cx="649224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61504" y="1517904"/>
            <a:ext cx="4005072" cy="1883664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61504" y="1517904"/>
            <a:ext cx="82296" cy="1883664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62672" y="1682495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Read the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2267712"/>
            <a:ext cx="3593591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Fit score: 58 → 72 → 83. Synthetic teaching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61504" y="3639312"/>
            <a:ext cx="4005072" cy="1938528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61504" y="3639312"/>
            <a:ext cx="82296" cy="19385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2" y="3803904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4389120"/>
            <a:ext cx="3593591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Pilot only channels above threshold and with owner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All chart values are mock examples, not claimed platform benchmarks. Confirm metric definitions before comparison.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11  Platform feasibility scoring: 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57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201168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9961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Gate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389888"/>
            <a:ext cx="48006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6624" y="14996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Evidence to inspect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9208" y="1389888"/>
            <a:ext cx="43434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07224" y="149961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11095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057400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Input quality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8608" y="1911095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6624" y="2057400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audience fit, format fit, cost, capability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9208" y="1911095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2057400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Hold if unverified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834639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2980944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Output fitness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8608" y="2834639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6624" y="2980944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platform selection matrix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79208" y="2834639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07224" y="2980944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Pilot only channels above threshold and with owner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758183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904487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Risk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78608" y="3758183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06624" y="3904487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Popularity is not audience fit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79208" y="3758183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07224" y="3904487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Escalate or revise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681728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4828032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Metric readout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78608" y="4681728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6624" y="4828032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Fit score and source rows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79208" y="4681728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07224" y="4828032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Record baseline → test → decision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The decision belongs to the campaign owner; the model is a drafting and analysis aid.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11  Platform feasibility scoring: review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58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Artifact to retain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platform selection matrix. Record the input source, prompt version, reviewer, date and final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Failure 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Popularity is not audience fit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Release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Pilot only channels above threshold and with owner. Recheck fit score against the campaign objective after launch.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Lab 03 evidence: save the artifact, decision and one corrected revision. Source: legacy:18-24.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12  Instagram format choice: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59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29A"/>
                </a:solidFill>
                <a:latin typeface="Aptos"/>
              </a:defRPr>
            </a:pPr>
            <a:r>
              <a:t>INPUT → TRANSFORM → OUTPUT → 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1  Evidence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creative inventory, placement, audience behavior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2  AI-assisted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match Feed, Stories or Reels to message and asset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45936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3  Reviewable artifact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format-to-CTA map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6608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4  Control 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Use motion where demonstration adds evidence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Source trace: legacy:67-95  •  Lab 03  •  Human approval precedes publication.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12  Instagram format choice: reusable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60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325880"/>
            <a:ext cx="7223760" cy="4251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54480"/>
            <a:ext cx="664768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ROLE  Social media campaign analyst for a Singapore SME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INPUT  creative inventory, placement, audience behavior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TASK  match Feed, Stories or Reels to message and asset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RETURN  format-to-CTA map; include a source column, assumption flag and reviewer decision.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RULE  Use motion where demonstration adds evidence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325880"/>
            <a:ext cx="3529584" cy="1856231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65008" y="1325880"/>
            <a:ext cx="82296" cy="1856231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490472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Acceptance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075688"/>
            <a:ext cx="3118103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Output contains the requested artifact, source trace and explicit assumptions.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3401568"/>
            <a:ext cx="3529584" cy="2185416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3401568"/>
            <a:ext cx="82296" cy="2185416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3566160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4151376"/>
            <a:ext cx="3118103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Old IGTV guidance is obsolete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Copy the detailed prompt from the matching lab PDF; never paste personal customer data into an unapproved tool.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12  Instagram format choice: worked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61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CHART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435608"/>
          <a:ext cx="649224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61504" y="1517904"/>
            <a:ext cx="4005072" cy="1883664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61504" y="1517904"/>
            <a:ext cx="82296" cy="1883664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62672" y="1682495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Read the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2267712"/>
            <a:ext cx="3593591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Completion rate: 12 → 19 → 27. Synthetic teaching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61504" y="3639312"/>
            <a:ext cx="4005072" cy="1938528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61504" y="3639312"/>
            <a:ext cx="82296" cy="19385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2" y="3803904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4389120"/>
            <a:ext cx="3593591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Use motion where demonstration adds 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All chart values are mock examples, not claimed platform benchmarks. Confirm metric definitions before comparison.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12  Instagram format choice: 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62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201168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9961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Gate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389888"/>
            <a:ext cx="48006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6624" y="14996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Evidence to inspect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9208" y="1389888"/>
            <a:ext cx="43434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07224" y="149961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11095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057400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Input quality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8608" y="1911095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6624" y="2057400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creative inventory, placement, audience behavior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9208" y="1911095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2057400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Hold if unverified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834639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2980944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Output fitness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8608" y="2834639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6624" y="2980944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format-to-CTA map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79208" y="2834639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07224" y="2980944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Use motion where demonstration adds evidence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758183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904487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Risk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78608" y="3758183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06624" y="3904487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Old IGTV guidance is obsolete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79208" y="3758183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07224" y="3904487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Escalate or revise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681728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4828032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Metric readout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78608" y="4681728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6624" y="4828032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Completion rate and source rows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79208" y="4681728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07224" y="4828032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Record baseline → test → decision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The decision belongs to the campaign owner; the model is a drafting and analysis aid.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12  Instagram format choice: review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63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Artifact to retain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format-to-CTA map. Record the input source, prompt version, reviewer, date and final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Failure 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Old IGTV guidance is obsolete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Release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Use motion where demonstration adds evidence. Recheck completion rate against the campaign objective after launch.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Lab 03 evidence: save the artifact, decision and one corrected revision. Source: legacy:67-95.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13  Facebook and Instagram roles: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64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29A"/>
                </a:solidFill>
                <a:latin typeface="Aptos"/>
              </a:defRPr>
            </a:pPr>
            <a:r>
              <a:t>INPUT → TRANSFORM → OUTPUT → 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1  Evidence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community intent, account assets, response capacity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2  AI-assisted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separate discovery and community service objectives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45936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3  Reviewable artifact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cross-placement plan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6608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4  Control 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Keep creative adapted to placement context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Source trace: legacy:98-104  •  Lab 03  •  Human approval precedes publication.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13  Facebook and Instagram roles: reusable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65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325880"/>
            <a:ext cx="7223760" cy="4251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54480"/>
            <a:ext cx="664768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ROLE  Social media campaign analyst for a Singapore SME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INPUT  community intent, account assets, response capacity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TASK  separate discovery and community service objectives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RETURN  cross-placement plan; include a source column, assumption flag and reviewer decision.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RULE  Keep creative adapted to placement context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325880"/>
            <a:ext cx="3529584" cy="1856231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65008" y="1325880"/>
            <a:ext cx="82296" cy="1856231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490472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Acceptance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075688"/>
            <a:ext cx="3118103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Output contains the requested artifact, source trace and explicit assumptions.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3401568"/>
            <a:ext cx="3529584" cy="2185416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3401568"/>
            <a:ext cx="82296" cy="2185416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3566160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4151376"/>
            <a:ext cx="3118103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Duplicated creative may crop or underperform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Copy the detailed prompt from the matching lab PDF; never paste personal customer data into an unapproved tool.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13  Facebook and Instagram roles: worked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66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CHART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435608"/>
          <a:ext cx="649224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61504" y="1517904"/>
            <a:ext cx="4005072" cy="1883664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61504" y="1517904"/>
            <a:ext cx="82296" cy="1883664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62672" y="1682495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Read the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2267712"/>
            <a:ext cx="3593591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Response rate: 35 → 49 → 62. Synthetic teaching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61504" y="3639312"/>
            <a:ext cx="4005072" cy="1938528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61504" y="3639312"/>
            <a:ext cx="82296" cy="19385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2" y="3803904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4389120"/>
            <a:ext cx="3593591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Keep creative adapted to placement context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All chart values are mock examples, not claimed platform benchmarks. Confirm metric definitions before comparison.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13  Facebook and Instagram roles: 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67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201168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9961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Gate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389888"/>
            <a:ext cx="48006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6624" y="14996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Evidence to inspect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9208" y="1389888"/>
            <a:ext cx="43434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07224" y="149961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11095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057400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Input quality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8608" y="1911095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6624" y="2057400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community intent, account assets, response capacity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9208" y="1911095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2057400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Hold if unverified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834639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2980944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Output fitness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8608" y="2834639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6624" y="2980944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cross-placement plan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79208" y="2834639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07224" y="2980944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Keep creative adapted to placement context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758183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904487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Risk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78608" y="3758183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06624" y="3904487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Duplicated creative may crop or underperform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79208" y="3758183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07224" y="3904487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Escalate or revise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681728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4828032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Metric readout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78608" y="4681728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6624" y="4828032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Response rate and source rows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79208" y="4681728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07224" y="4828032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Record baseline → test → decision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The decision belongs to the campaign owner; the model is a drafting and analysis aid.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13  Facebook and Instagram roles: review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68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Artifact to retain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cross-placement plan. Record the input source, prompt version, reviewer, date and final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Failure 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Duplicated creative may crop or underperform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Release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Keep creative adapted to placement context. Recheck response rate against the campaign objective after launch.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Lab 03 evidence: save the artifact, decision and one corrected revision. Source: legacy:98-104.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14  LinkedIn B2B feasibility: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69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29A"/>
                </a:solidFill>
                <a:latin typeface="Aptos"/>
              </a:defRPr>
            </a:pPr>
            <a:r>
              <a:t>INPUT → TRANSFORM → OUTPUT → 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1  Evidence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buying committee, professional proof, lead 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2  AI-assisted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score professional audience against acquisition cost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45936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3  Reviewable artifact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B2B pilot rationale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6608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4  Control 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Test only when deal economics support cost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Source trace: legacy:platforms  •  Lab 03  •  Human approval precedes publication.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14  LinkedIn B2B feasibility: reusable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70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325880"/>
            <a:ext cx="7223760" cy="4251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54480"/>
            <a:ext cx="664768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ROLE  Social media campaign analyst for a Singapore SME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INPUT  buying committee, professional proof, lead value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TASK  score professional audience against acquisition cost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RETURN  B2B pilot rationale; include a source column, assumption flag and reviewer decision.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RULE  Test only when deal economics support cost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325880"/>
            <a:ext cx="3529584" cy="1856231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65008" y="1325880"/>
            <a:ext cx="82296" cy="1856231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490472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Acceptance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075688"/>
            <a:ext cx="3118103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Output contains the requested artifact, source trace and explicit assumptions.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3401568"/>
            <a:ext cx="3529584" cy="2185416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3401568"/>
            <a:ext cx="82296" cy="2185416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3566160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4151376"/>
            <a:ext cx="3118103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Broad consumer hooks may misfit B2B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Copy the detailed prompt from the matching lab PDF; never paste personal customer data into an unapproved tool.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14  LinkedIn B2B feasibility: worked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71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CHART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435608"/>
          <a:ext cx="649224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61504" y="1517904"/>
            <a:ext cx="4005072" cy="1883664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61504" y="1517904"/>
            <a:ext cx="82296" cy="1883664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62672" y="1682495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Read the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2267712"/>
            <a:ext cx="3593591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Qualified leads: 7 → 12 → 17. Synthetic teaching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61504" y="3639312"/>
            <a:ext cx="4005072" cy="1938528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61504" y="3639312"/>
            <a:ext cx="82296" cy="19385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2" y="3803904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4389120"/>
            <a:ext cx="3593591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Test only when deal economics support cost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All chart values are mock examples, not claimed platform benchmarks. Confirm metric definitions before comparison.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14  LinkedIn B2B feasibility: 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72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201168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9961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Gate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389888"/>
            <a:ext cx="48006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6624" y="14996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Evidence to inspect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9208" y="1389888"/>
            <a:ext cx="43434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07224" y="149961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11095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057400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Input quality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8608" y="1911095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6624" y="2057400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buying committee, professional proof, lead value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9208" y="1911095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2057400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Hold if unverified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834639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2980944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Output fitness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8608" y="2834639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6624" y="2980944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B2B pilot rationale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79208" y="2834639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07224" y="2980944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Test only when deal economics support cost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758183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904487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Risk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78608" y="3758183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06624" y="3904487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Broad consumer hooks may misfit B2B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79208" y="3758183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07224" y="3904487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Escalate or revise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681728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4828032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Metric readout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78608" y="4681728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6624" y="4828032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Qualified leads and source rows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79208" y="4681728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07224" y="4828032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Record baseline → test → decision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The decision belongs to the campaign owner; the model is a drafting and analysis aid.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14  LinkedIn B2B feasibility: review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73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Artifact to retain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B2B pilot rationale. Record the input source, prompt version, reviewer, date and final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Failure 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Broad consumer hooks may misfit B2B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Release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Test only when deal economics support cost. Recheck qualified leads against the campaign objective after launch.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Lab 03 evidence: save the artifact, decision and one corrected revision. Source: legacy:platforms.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15  TikTok short-video feasibility: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74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29A"/>
                </a:solidFill>
                <a:latin typeface="Aptos"/>
              </a:defRPr>
            </a:pPr>
            <a:r>
              <a:t>INPUT → TRANSFORM → OUTPUT → 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1  Evidence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demonstration potential, editing time, audience 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2  AI-assisted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compare hook retention and production burden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45936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3  Reviewable artifact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video pilot decision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6608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4  Control 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Require native-format proof before budget scale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Source trace: official  •  Lab 03  •  Human approval precedes publication.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15  TikTok short-video feasibility: reusable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75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325880"/>
            <a:ext cx="7223760" cy="4251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54480"/>
            <a:ext cx="664768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ROLE  Social media campaign analyst for a Singapore SME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INPUT  demonstration potential, editing time, audience age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TASK  compare hook retention and production burden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RETURN  video pilot decision; include a source column, assumption flag and reviewer decision.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RULE  Require native-format proof before budget scale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325880"/>
            <a:ext cx="3529584" cy="1856231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65008" y="1325880"/>
            <a:ext cx="82296" cy="1856231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490472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Acceptance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075688"/>
            <a:ext cx="3118103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Output contains the requested artifact, source trace and explicit assumptions.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3401568"/>
            <a:ext cx="3529584" cy="2185416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3401568"/>
            <a:ext cx="82296" cy="2185416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3566160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4151376"/>
            <a:ext cx="3118103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Trend imitation can weaken brand fit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Copy the detailed prompt from the matching lab PDF; never paste personal customer data into an unapproved tool.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15  TikTok short-video feasibility: worked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76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CHART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435608"/>
          <a:ext cx="649224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61504" y="1517904"/>
            <a:ext cx="4005072" cy="1883664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61504" y="1517904"/>
            <a:ext cx="82296" cy="1883664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62672" y="1682495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Read the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2267712"/>
            <a:ext cx="3593591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3-second hold: 24 → 35 → 46. Synthetic teaching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61504" y="3639312"/>
            <a:ext cx="4005072" cy="1938528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61504" y="3639312"/>
            <a:ext cx="82296" cy="19385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2" y="3803904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4389120"/>
            <a:ext cx="3593591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Require native-format proof before budget scale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All chart values are mock examples, not claimed platform benchmarks. Confirm metric definitions before comparison.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15  TikTok short-video feasibility: 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77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201168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9961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Gate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389888"/>
            <a:ext cx="48006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6624" y="14996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Evidence to inspect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9208" y="1389888"/>
            <a:ext cx="43434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07224" y="149961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11095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057400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Input quality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8608" y="1911095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6624" y="2057400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demonstration potential, editing time, audience 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9208" y="1911095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2057400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Hold if unverified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834639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2980944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Output fitness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8608" y="2834639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6624" y="2980944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video pilot decision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79208" y="2834639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07224" y="2980944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Require native-format proof before budget scale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758183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904487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Risk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78608" y="3758183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06624" y="3904487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Trend imitation can weaken brand fit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79208" y="3758183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07224" y="3904487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Escalate or revise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681728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4828032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Metric readout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78608" y="4681728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6624" y="4828032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3-second hold and source rows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79208" y="4681728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07224" y="4828032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Record baseline → test → decision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The decision belongs to the campaign owner; the model is a drafting and analysis aid.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15  TikTok short-video feasibility: review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78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Artifact to retain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video pilot decision. Record the input source, prompt version, reviewer, date and final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Failure 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Trend imitation can weaken brand fit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Release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Require native-format proof before budget scale. Recheck 3-second hold against the campaign objective after launch.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Lab 03 evidence: save the artifact, decision and one corrected revision. Source: official.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16  Audience overlap and exclusions: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79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29A"/>
                </a:solidFill>
                <a:latin typeface="Aptos"/>
              </a:defRPr>
            </a:pPr>
            <a:r>
              <a:t>INPUT → TRANSFORM → OUTPUT → 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1  Evidence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first-party segments, channel reach, frequency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2  AI-assisted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deduplicate target groups and set exclusions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45936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3  Reviewable artifact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channel reach plan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6608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4  Control 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Prioritize incremental reach over raw impressions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Source trace: legacy:137-139  •  Lab 04  •  Human approval precedes publication.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16  Audience overlap and exclusions: reusable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80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325880"/>
            <a:ext cx="7223760" cy="4251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54480"/>
            <a:ext cx="664768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ROLE  Social media campaign analyst for a Singapore SME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INPUT  first-party segments, channel reach, frequency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TASK  deduplicate target groups and set exclusions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RETURN  channel reach plan; include a source column, assumption flag and reviewer decision.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RULE  Prioritize incremental reach over raw impressions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325880"/>
            <a:ext cx="3529584" cy="1856231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65008" y="1325880"/>
            <a:ext cx="82296" cy="1856231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490472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Acceptance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075688"/>
            <a:ext cx="3118103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Output contains the requested artifact, source trace and explicit assumptions.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3401568"/>
            <a:ext cx="3529584" cy="2185416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3401568"/>
            <a:ext cx="82296" cy="2185416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3566160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4151376"/>
            <a:ext cx="3118103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Overlap inflates apparent scale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Copy the detailed prompt from the matching lab PDF; never paste personal customer data into an unapproved tool.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16  Audience overlap and exclusions: worked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81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CHART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435608"/>
          <a:ext cx="649224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61504" y="1517904"/>
            <a:ext cx="4005072" cy="1883664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61504" y="1517904"/>
            <a:ext cx="82296" cy="1883664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62672" y="1682495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Read the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2267712"/>
            <a:ext cx="3593591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Unique reach: 1200 → 1600 → 1950. Synthetic teaching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61504" y="3639312"/>
            <a:ext cx="4005072" cy="1938528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61504" y="3639312"/>
            <a:ext cx="82296" cy="19385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2" y="3803904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4389120"/>
            <a:ext cx="3593591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Prioritize incremental reach over raw impressions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All chart values are mock examples, not claimed platform benchmarks. Confirm metric definitions before comparison.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16  Audience overlap and exclusions: 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82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201168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9961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Gate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389888"/>
            <a:ext cx="48006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6624" y="14996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Evidence to inspect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9208" y="1389888"/>
            <a:ext cx="43434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07224" y="149961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11095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057400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Input quality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8608" y="1911095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6624" y="2057400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first-party segments, channel reach, frequency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9208" y="1911095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2057400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Hold if unverified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834639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2980944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Output fitness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8608" y="2834639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6624" y="2980944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channel reach plan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79208" y="2834639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07224" y="2980944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Prioritize incremental reach over raw impressions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758183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904487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Risk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78608" y="3758183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06624" y="3904487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Overlap inflates apparent scale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79208" y="3758183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07224" y="3904487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Escalate or revise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681728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4828032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Metric readout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78608" y="4681728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6624" y="4828032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Unique reach and source rows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79208" y="4681728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07224" y="4828032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Record baseline → test → decision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The decision belongs to the campaign owner; the model is a drafting and analysis aid.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16  Audience overlap and exclusions: review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83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Artifact to retain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channel reach plan. Record the input source, prompt version, reviewer, date and final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Failure 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Overlap inflates apparent scale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Release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Prioritize incremental reach over raw impressions. Recheck unique reach against the campaign objective after launch.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Lab 04 evidence: save the artifact, decision and one corrected revision. Source: legacy:137-139.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17  Local market relevance: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84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29A"/>
                </a:solidFill>
                <a:latin typeface="Aptos"/>
              </a:defRPr>
            </a:pPr>
            <a:r>
              <a:t>INPUT → TRANSFORM → OUTPUT → 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1  Evidence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Singapore language, price, cultural 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2  AI-assisted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review generated variants for local accuracy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45936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3  Reviewable artifact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localization QA sheet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6608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4  Control 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Reject unsupported local stereotypes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Source trace: Equinet  •  Lab 04  •  Human approval precedes publication.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17  Local market relevance: reusable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85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325880"/>
            <a:ext cx="7223760" cy="4251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54480"/>
            <a:ext cx="664768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ROLE  Social media campaign analyst for a Singapore SME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INPUT  Singapore language, price, cultural context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TASK  review generated variants for local accuracy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RETURN  localization QA sheet; include a source column, assumption flag and reviewer decision.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RULE  Reject unsupported local stereotypes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325880"/>
            <a:ext cx="3529584" cy="1856231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65008" y="1325880"/>
            <a:ext cx="82296" cy="1856231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490472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Acceptance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075688"/>
            <a:ext cx="3118103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Output contains the requested artifact, source trace and explicit assumptions.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3401568"/>
            <a:ext cx="3529584" cy="2185416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3401568"/>
            <a:ext cx="82296" cy="2185416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3566160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4151376"/>
            <a:ext cx="3118103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Literal translation misses local context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Copy the detailed prompt from the matching lab PDF; never paste personal customer data into an unapproved tool.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17  Local market relevance: worked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86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CHART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435608"/>
          <a:ext cx="649224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61504" y="1517904"/>
            <a:ext cx="4005072" cy="1883664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61504" y="1517904"/>
            <a:ext cx="82296" cy="1883664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62672" y="1682495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Read the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2267712"/>
            <a:ext cx="3593591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Local relevance: 61 → 76 → 88. Synthetic teaching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61504" y="3639312"/>
            <a:ext cx="4005072" cy="1938528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61504" y="3639312"/>
            <a:ext cx="82296" cy="19385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2" y="3803904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4389120"/>
            <a:ext cx="3593591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Reject unsupported local stereotypes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All chart values are mock examples, not claimed platform benchmarks. Confirm metric definitions before comparison.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17  Local market relevance: 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87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201168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9961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Gate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389888"/>
            <a:ext cx="48006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6624" y="14996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Evidence to inspect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9208" y="1389888"/>
            <a:ext cx="43434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07224" y="149961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11095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057400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Input quality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8608" y="1911095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6624" y="2057400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Singapore language, price, cultural context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9208" y="1911095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2057400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Hold if unverified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834639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2980944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Output fitness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8608" y="2834639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6624" y="2980944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localization QA sheet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79208" y="2834639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07224" y="2980944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Reject unsupported local stereotypes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758183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904487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Risk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78608" y="3758183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06624" y="3904487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Literal translation misses local context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79208" y="3758183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07224" y="3904487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Escalate or revise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681728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4828032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Metric readout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78608" y="4681728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6624" y="4828032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Local relevance and source rows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79208" y="4681728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07224" y="4828032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Record baseline → test → decision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The decision belongs to the campaign owner; the model is a drafting and analysis aid.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17  Local market relevance: review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88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Artifact to retain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localization QA sheet. Record the input source, prompt version, reviewer, date and final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Failure 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Literal translation misses local context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Release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Reject unsupported local stereotypes. Recheck local relevance against the campaign objective after launch.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Lab 04 evidence: save the artifact, decision and one corrected revision. Source: Equinet.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18  Opportunity sizing: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89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29A"/>
                </a:solidFill>
                <a:latin typeface="Aptos"/>
              </a:defRPr>
            </a:pPr>
            <a:r>
              <a:t>INPUT → TRANSFORM → OUTPUT → 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1  Evidence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addressable segment, reachable share, response 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2  AI-assisted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estimate attainable leads with explicit assumptions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45936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3  Reviewable artifact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funnel estimate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6608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4  Control 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Revise assumptions after pilot evidence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Source trace: legacy:152  •  Lab 04  •  Human approval precedes publication.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18  Opportunity sizing: reusable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90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325880"/>
            <a:ext cx="7223760" cy="4251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54480"/>
            <a:ext cx="664768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ROLE  Social media campaign analyst for a Singapore SME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INPUT  addressable segment, reachable share, response rate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TASK  estimate attainable leads with explicit assumptions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RETURN  funnel estimate; include a source column, assumption flag and reviewer decision.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RULE  Revise assumptions after pilot evidence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325880"/>
            <a:ext cx="3529584" cy="1856231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65008" y="1325880"/>
            <a:ext cx="82296" cy="1856231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490472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Acceptance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075688"/>
            <a:ext cx="3118103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Output contains the requested artifact, source trace and explicit assumptions.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3401568"/>
            <a:ext cx="3529584" cy="2185416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3401568"/>
            <a:ext cx="82296" cy="2185416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3566160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4151376"/>
            <a:ext cx="3118103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AI estimates can appear more precise than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Copy the detailed prompt from the matching lab PDF; never paste personal customer data into an unapproved tool.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18  Opportunity sizing: worked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91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CHART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435608"/>
          <a:ext cx="649224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61504" y="1517904"/>
            <a:ext cx="4005072" cy="1883664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61504" y="1517904"/>
            <a:ext cx="82296" cy="1883664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62672" y="1682495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Read the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2267712"/>
            <a:ext cx="3593591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Expected leads: 20 → 34 → 46. Synthetic teaching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61504" y="3639312"/>
            <a:ext cx="4005072" cy="1938528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61504" y="3639312"/>
            <a:ext cx="82296" cy="19385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2" y="3803904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4389120"/>
            <a:ext cx="3593591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Revise assumptions after pilot 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All chart values are mock examples, not claimed platform benchmarks. Confirm metric definitions before comparison.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18  Opportunity sizing: 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92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201168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9961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Gate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389888"/>
            <a:ext cx="48006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6624" y="14996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Evidence to inspect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9208" y="1389888"/>
            <a:ext cx="43434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07224" y="149961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11095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057400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Input quality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8608" y="1911095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6624" y="2057400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addressable segment, reachable share, response rate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9208" y="1911095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2057400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Hold if unverified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834639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2980944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Output fitness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8608" y="2834639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6624" y="2980944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funnel estimate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79208" y="2834639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07224" y="2980944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Revise assumptions after pilot evidence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758183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904487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Risk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78608" y="3758183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06624" y="3904487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AI estimates can appear more precise than data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79208" y="3758183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07224" y="3904487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Escalate or revise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681728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4828032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Metric readout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78608" y="4681728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6624" y="4828032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Expected leads and source rows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79208" y="4681728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07224" y="4828032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Record baseline → test → decision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The decision belongs to the campaign owner; the model is a drafting and analysis aid.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18  Opportunity sizing: review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93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Artifact to retain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funnel estimate. Record the input source, prompt version, reviewer, date and final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Failure 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AI estimates can appear more precise than 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Release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Revise assumptions after pilot evidence. Recheck expected leads against the campaign objective after launch.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Lab 04 evidence: save the artifact, decision and one corrected revision. Source: legacy:152.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19  Platform privacy fit: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94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29A"/>
                </a:solidFill>
                <a:latin typeface="Aptos"/>
              </a:defRPr>
            </a:pPr>
            <a:r>
              <a:t>INPUT → TRANSFORM → OUTPUT → 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1  Evidence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data categories, pixel consent, vendor terms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2  AI-assisted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score data need against privacy and capability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45936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3  Reviewable artifact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privacy-aware platform decision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6608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4  Control 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Avoid activating unconsented personal data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Source trace: legacy:127-131  •  Lab 04  •  Human approval precedes publication.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19  Platform privacy fit: reusable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95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325880"/>
            <a:ext cx="7223760" cy="4251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54480"/>
            <a:ext cx="664768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ROLE  Social media campaign analyst for a Singapore SME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INPUT  data categories, pixel consent, vendor terms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TASK  score data need against privacy and capability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RETURN  privacy-aware platform decision; include a source column, assumption flag and reviewer decision.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RULE  Avoid activating unconsented personal 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325880"/>
            <a:ext cx="3529584" cy="1856231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65008" y="1325880"/>
            <a:ext cx="82296" cy="1856231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490472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Acceptance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075688"/>
            <a:ext cx="3118103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Output contains the requested artifact, source trace and explicit assumptions.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3401568"/>
            <a:ext cx="3529584" cy="2185416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3401568"/>
            <a:ext cx="82296" cy="2185416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3566160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4151376"/>
            <a:ext cx="3118103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Ad targeting can expose private information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Copy the detailed prompt from the matching lab PDF; never paste personal customer data into an unapproved tool.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19  Platform privacy fit: worked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96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CHART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435608"/>
          <a:ext cx="649224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61504" y="1517904"/>
            <a:ext cx="4005072" cy="1883664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61504" y="1517904"/>
            <a:ext cx="82296" cy="1883664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62672" y="1682495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Read the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2267712"/>
            <a:ext cx="3593591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Consented events: 40 → 65 → 86. Synthetic teaching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61504" y="3639312"/>
            <a:ext cx="4005072" cy="1938528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61504" y="3639312"/>
            <a:ext cx="82296" cy="19385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2" y="3803904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4389120"/>
            <a:ext cx="3593591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Avoid activating unconsented personal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All chart values are mock examples, not claimed platform benchmarks. Confirm metric definitions before comparison.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19  Platform privacy fit: 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97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201168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9961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Gate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389888"/>
            <a:ext cx="48006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6624" y="14996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Evidence to inspect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9208" y="1389888"/>
            <a:ext cx="43434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07224" y="149961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11095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057400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Input quality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8608" y="1911095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6624" y="2057400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data categories, pixel consent, vendor terms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9208" y="1911095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2057400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Hold if unverified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834639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2980944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Output fitness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8608" y="2834639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6624" y="2980944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privacy-aware platform decision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79208" y="2834639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07224" y="2980944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Avoid activating unconsented personal data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758183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904487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Risk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78608" y="3758183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06624" y="3904487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Ad targeting can expose private information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79208" y="3758183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07224" y="3904487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Escalate or revise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681728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4828032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Metric readout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78608" y="4681728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6624" y="4828032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Consented events and source rows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79208" y="4681728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07224" y="4828032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Record baseline → test → decision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The decision belongs to the campaign owner; the model is a drafting and analysis aid.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19  Platform privacy fit: review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98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Artifact to retain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privacy-aware platform decision. Record the input source, prompt version, reviewer, date and final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Failure 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Ad targeting can expose private information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Release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Avoid activating unconsented personal data. Recheck consented events against the campaign objective after launch.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Lab 04 evidence: save the artifact, decision and one corrected revision. Source: legacy:127-131.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20  Pilot test design: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99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29A"/>
                </a:solidFill>
                <a:latin typeface="Aptos"/>
              </a:defRPr>
            </a:pPr>
            <a:r>
              <a:t>INPUT → TRANSFORM → OUTPUT → 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1  Evidence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hypothesis, audience, success threshold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2  AI-assisted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hold one variable while assigning equal budgets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45936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3  Reviewable artifact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channel pilot plan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6608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4  Control 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Scale only after threshold and sample check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Source trace: legacy:153-158  •  Lab 04  •  Human approval precedes publication.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20  Pilot test design: reusable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100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325880"/>
            <a:ext cx="7223760" cy="4251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54480"/>
            <a:ext cx="664768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ROLE  Social media campaign analyst for a Singapore SME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INPUT  hypothesis, audience, success threshold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TASK  hold one variable while assigning equal budgets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RETURN  channel pilot plan; include a source column, assumption flag and reviewer decision.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RULE  Scale only after threshold and sample check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325880"/>
            <a:ext cx="3529584" cy="1856231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65008" y="1325880"/>
            <a:ext cx="82296" cy="1856231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490472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Acceptance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075688"/>
            <a:ext cx="3118103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Output contains the requested artifact, source trace and explicit assumptions.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3401568"/>
            <a:ext cx="3529584" cy="2185416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3401568"/>
            <a:ext cx="82296" cy="2185416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3566160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4151376"/>
            <a:ext cx="3118103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Multiple changes erase causal learning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Copy the detailed prompt from the matching lab PDF; never paste personal customer data into an unapproved tool.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20  Pilot test design: worked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101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CHART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435608"/>
          <a:ext cx="649224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61504" y="1517904"/>
            <a:ext cx="4005072" cy="1883664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61504" y="1517904"/>
            <a:ext cx="82296" cy="1883664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62672" y="1682495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Read the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2267712"/>
            <a:ext cx="3593591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Conversion rate: 1.1 → 1.5 → 2. Synthetic teaching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61504" y="3639312"/>
            <a:ext cx="4005072" cy="1938528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61504" y="3639312"/>
            <a:ext cx="82296" cy="19385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2" y="3803904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4389120"/>
            <a:ext cx="3593591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Scale only after threshold and sample check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All chart values are mock examples, not claimed platform benchmarks. Confirm metric definitions before comparison.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20  Pilot test design: 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102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201168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9961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Gate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389888"/>
            <a:ext cx="48006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6624" y="14996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Evidence to inspect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9208" y="1389888"/>
            <a:ext cx="43434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07224" y="149961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11095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057400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Input quality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8608" y="1911095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6624" y="2057400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hypothesis, audience, success threshold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9208" y="1911095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2057400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Hold if unverified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834639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2980944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Output fitness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8608" y="2834639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6624" y="2980944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channel pilot plan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79208" y="2834639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07224" y="2980944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Scale only after threshold and sample check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758183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904487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Risk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78608" y="3758183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06624" y="3904487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Multiple changes erase causal learning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79208" y="3758183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07224" y="3904487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Escalate or revise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681728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4828032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Metric readout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78608" y="4681728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6624" y="4828032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Conversion rate and source rows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79208" y="4681728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07224" y="4828032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Record baseline → test → decision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The decision belongs to the campaign owner; the model is a drafting and analysis aid.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20  Pilot test design: review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103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Artifact to retain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channel pilot plan. Record the input source, prompt version, reviewer, date and final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Failure 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Multiple changes erase causal learning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Release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Scale only after threshold and sample check. Recheck conversion rate against the campaign objective after launch.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Lab 04 evidence: save the artifact, decision and one corrected revision. Source: legacy:153-158.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21  AI-assisted caption writing: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104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29A"/>
                </a:solidFill>
                <a:latin typeface="Aptos"/>
              </a:defRPr>
            </a:pPr>
            <a:r>
              <a:t>INPUT → TRANSFORM → OUTPUT → 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1  Evidence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approved offer, proof points, persona 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2  AI-assisted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generate hook, value, evidence and CTA variants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45936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3  Reviewable artifact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caption shortlist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6608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4  Control 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Human reviewer checks every fact and tone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Source trace: legacy:85  •  Lab 05  •  Human approval precedes publication.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21  AI-assisted caption writing: reusable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105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325880"/>
            <a:ext cx="7223760" cy="4251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54480"/>
            <a:ext cx="664768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ROLE  Social media campaign analyst for a Singapore SME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INPUT  approved offer, proof points, persona question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TASK  generate hook, value, evidence and CTA variants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RETURN  caption shortlist; include a source column, assumption flag and reviewer decision.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RULE  Human reviewer checks every fact and tone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325880"/>
            <a:ext cx="3529584" cy="1856231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65008" y="1325880"/>
            <a:ext cx="82296" cy="1856231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490472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Acceptance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075688"/>
            <a:ext cx="3118103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Output contains the requested artifact, source trace and explicit assumptions.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3401568"/>
            <a:ext cx="3529584" cy="2185416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3401568"/>
            <a:ext cx="82296" cy="2185416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3566160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4151376"/>
            <a:ext cx="3118103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Invented urgency erodes trust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Copy the detailed prompt from the matching lab PDF; never paste personal customer data into an unapproved tool.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21  AI-assisted caption writing: worked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106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CHART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435608"/>
          <a:ext cx="649224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61504" y="1517904"/>
            <a:ext cx="4005072" cy="1883664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61504" y="1517904"/>
            <a:ext cx="82296" cy="1883664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62672" y="1682495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Read the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2267712"/>
            <a:ext cx="3593591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Click rate: 1.2 → 1.9 → 2.5. Synthetic teaching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61504" y="3639312"/>
            <a:ext cx="4005072" cy="1938528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61504" y="3639312"/>
            <a:ext cx="82296" cy="19385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2" y="3803904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4389120"/>
            <a:ext cx="3593591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Human reviewer checks every fact and tone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All chart values are mock examples, not claimed platform benchmarks. Confirm metric definitions before comparison.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21  AI-assisted caption writing: 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107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201168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9961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Gate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389888"/>
            <a:ext cx="48006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6624" y="14996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Evidence to inspect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9208" y="1389888"/>
            <a:ext cx="43434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07224" y="149961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11095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057400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Input quality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8608" y="1911095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6624" y="2057400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approved offer, proof points, persona question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9208" y="1911095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2057400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Hold if unverified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834639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2980944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Output fitness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8608" y="2834639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6624" y="2980944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caption shortlist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79208" y="2834639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07224" y="2980944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Human reviewer checks every fact and tone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758183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904487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Risk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78608" y="3758183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06624" y="3904487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Invented urgency erodes trust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79208" y="3758183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07224" y="3904487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Escalate or revise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681728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4828032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Metric readout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78608" y="4681728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6624" y="4828032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Click rate and source rows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79208" y="4681728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07224" y="4828032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Record baseline → test → decision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The decision belongs to the campaign owner; the model is a drafting and analysis aid.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21  AI-assisted caption writing: review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108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Artifact to retain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caption shortlist. Record the input source, prompt version, reviewer, date and final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Failure 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Invented urgency erodes trust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Release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Human reviewer checks every fact and tone. Recheck click rate against the campaign objective after launch.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Lab 05 evidence: save the artifact, decision and one corrected revision. Source: legacy:85.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22  Hashtag and location strategy: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109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29A"/>
                </a:solidFill>
                <a:latin typeface="Aptos"/>
              </a:defRPr>
            </a:pPr>
            <a:r>
              <a:t>INPUT → TRANSFORM → OUTPUT → 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1  Evidence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topic taxonomy, local service area, platform policy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2  AI-assisted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choose descriptive tags with relevance tests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45936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3  Reviewable artifact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tag and location plan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6608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4  Control 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Keep only tags tied to intent and geography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Source trace: legacy:85-87  •  Lab 05  •  Human approval precedes publication.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22  Hashtag and location strategy: reusable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325880"/>
            <a:ext cx="7223760" cy="4251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54480"/>
            <a:ext cx="664768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ROLE  Social media campaign analyst for a Singapore SME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INPUT  topic taxonomy, local service area, platform policy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TASK  choose descriptive tags with relevance tests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RETURN  tag and location plan; include a source column, assumption flag and reviewer decision.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RULE  Keep only tags tied to intent and geography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325880"/>
            <a:ext cx="3529584" cy="1856231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65008" y="1325880"/>
            <a:ext cx="82296" cy="1856231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490472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Acceptance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075688"/>
            <a:ext cx="3118103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Output contains the requested artifact, source trace and explicit assumptions.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3401568"/>
            <a:ext cx="3529584" cy="2185416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3401568"/>
            <a:ext cx="82296" cy="2185416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3566160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4151376"/>
            <a:ext cx="3118103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High-volume tags can attract wrong audience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Copy the detailed prompt from the matching lab PDF; never paste personal customer data into an unapproved tool.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22  Hashtag and location strategy: worked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111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CHART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435608"/>
          <a:ext cx="649224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61504" y="1517904"/>
            <a:ext cx="4005072" cy="1883664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61504" y="1517904"/>
            <a:ext cx="82296" cy="1883664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62672" y="1682495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Read the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2267712"/>
            <a:ext cx="3593591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Discovery visits: 90 → 130 → 170. Synthetic teaching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61504" y="3639312"/>
            <a:ext cx="4005072" cy="1938528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61504" y="3639312"/>
            <a:ext cx="82296" cy="19385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2" y="3803904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4389120"/>
            <a:ext cx="3593591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Keep only tags tied to intent and geography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All chart values are mock examples, not claimed platform benchmarks. Confirm metric definitions before comparison.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22  Hashtag and location strategy: 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112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201168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9961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Gate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389888"/>
            <a:ext cx="48006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6624" y="14996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Evidence to inspect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9208" y="1389888"/>
            <a:ext cx="43434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07224" y="149961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11095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057400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Input quality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8608" y="1911095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6624" y="2057400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topic taxonomy, local service area, platform policy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9208" y="1911095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2057400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Hold if unverified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834639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2980944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Output fitness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8608" y="2834639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6624" y="2980944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tag and location plan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79208" y="2834639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07224" y="2980944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Keep only tags tied to intent and geography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758183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904487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Risk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78608" y="3758183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06624" y="3904487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High-volume tags can attract wrong audience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79208" y="3758183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07224" y="3904487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Escalate or revise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681728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4828032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Metric readout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78608" y="4681728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6624" y="4828032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Discovery visits and source rows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79208" y="4681728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07224" y="4828032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Record baseline → test → decision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The decision belongs to the campaign owner; the model is a drafting and analysis aid.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22  Hashtag and location strategy: review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113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Artifact to retain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tag and location plan. Record the input source, prompt version, reviewer, date and final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Failure 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High-volume tags can attract wrong audience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Release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Keep only tags tied to intent and geography. Recheck discovery visits against the campaign objective after launch.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Lab 05 evidence: save the artifact, decision and one corrected revision. Source: legacy:85-87.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23  AI image brief: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114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29A"/>
                </a:solidFill>
                <a:latin typeface="Aptos"/>
              </a:defRPr>
            </a:pPr>
            <a:r>
              <a:t>INPUT → TRANSFORM → OUTPUT → 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1  Evidence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product photo, usage rights, visual identity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2  AI-assisted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specify scene, composition and protected brand elements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45936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3  Reviewable artifact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image generation brief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6608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4  Control 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Review hands, product fidelity and disclosure need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Source trace: IBM  •  Lab 05  •  Human approval precedes publication.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23  AI image brief: reusable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115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325880"/>
            <a:ext cx="7223760" cy="4251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54480"/>
            <a:ext cx="664768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ROLE  Social media campaign analyst for a Singapore SME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INPUT  product photo, usage rights, visual identity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TASK  specify scene, composition and protected brand elements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RETURN  image generation brief; include a source column, assumption flag and reviewer decision.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RULE  Review hands, product fidelity and disclosure need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325880"/>
            <a:ext cx="3529584" cy="1856231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65008" y="1325880"/>
            <a:ext cx="82296" cy="1856231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490472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Acceptance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075688"/>
            <a:ext cx="3118103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Output contains the requested artifact, source trace and explicit assumptions.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3401568"/>
            <a:ext cx="3529584" cy="2185416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3401568"/>
            <a:ext cx="82296" cy="2185416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3566160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4151376"/>
            <a:ext cx="3118103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Generated products may misrepresent reality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Copy the detailed prompt from the matching lab PDF; never paste personal customer data into an unapproved tool.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23  AI image brief: worked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116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CHART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435608"/>
          <a:ext cx="649224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61504" y="1517904"/>
            <a:ext cx="4005072" cy="1883664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61504" y="1517904"/>
            <a:ext cx="82296" cy="1883664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62672" y="1682495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Read the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2267712"/>
            <a:ext cx="3593591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Asset approval: 45 → 65 → 82. Synthetic teaching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61504" y="3639312"/>
            <a:ext cx="4005072" cy="1938528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61504" y="3639312"/>
            <a:ext cx="82296" cy="19385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2" y="3803904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4389120"/>
            <a:ext cx="3593591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Review hands, product fidelity and disclosure need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All chart values are mock examples, not claimed platform benchmarks. Confirm metric definitions before comparison.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23  AI image brief: 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117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201168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9961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Gate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389888"/>
            <a:ext cx="48006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6624" y="14996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Evidence to inspect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9208" y="1389888"/>
            <a:ext cx="43434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07224" y="149961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11095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057400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Input quality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8608" y="1911095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6624" y="2057400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product photo, usage rights, visual identity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9208" y="1911095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2057400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Hold if unverified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834639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2980944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Output fitness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8608" y="2834639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6624" y="2980944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image generation brief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79208" y="2834639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07224" y="2980944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Review hands, product fidelity and disclosure need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758183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904487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Risk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78608" y="3758183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06624" y="3904487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Generated products may misrepresent reality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79208" y="3758183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07224" y="3904487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Escalate or revise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681728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4828032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Metric readout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78608" y="4681728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6624" y="4828032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Asset approval and source rows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79208" y="4681728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07224" y="4828032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Record baseline → test → decision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The decision belongs to the campaign owner; the model is a drafting and analysis aid.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23  AI image brief: review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118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17320"/>
            <a:ext cx="4773168" cy="192024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" y="1417320"/>
            <a:ext cx="82296" cy="192024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581912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Artifact to retain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67128"/>
            <a:ext cx="436168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image generation brief. Record source, prompt version, reviewer and final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" y="3584448"/>
            <a:ext cx="4773168" cy="1956816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5216" y="3584448"/>
            <a:ext cx="82296" cy="1956816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3749039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Release check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4334256"/>
            <a:ext cx="4361688" cy="1042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Review hands, product fidelity and disclosure need. Risk: Generated products may misrepresent reality.</a:t>
            </a:r>
          </a:p>
        </p:txBody>
      </p:sp>
      <p:pic>
        <p:nvPicPr>
          <p:cNvPr id="16" name="Picture 15" descr="product-scene-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1417320"/>
            <a:ext cx="5943600" cy="33450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Lab 05 evidence: save the artifact, decision and one corrected revision. Source: IBM.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24  Short-video storyboard: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119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29A"/>
                </a:solidFill>
                <a:latin typeface="Aptos"/>
              </a:defRPr>
            </a:pPr>
            <a:r>
              <a:t>INPUT → TRANSFORM → OUTPUT → 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1  Evidence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one customer problem, proof, CTA, duration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2  AI-assisted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sequence hook, demonstration, evidence and 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45936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3  Reviewable artifact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shot-by-shot storyboard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6608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4  Control 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Cut scenes that do not advance message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Source trace: legacy:90-96  •  Lab 05  •  Human approval precedes publication.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24  Short-video storyboard: reusable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120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325880"/>
            <a:ext cx="7223760" cy="4251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54480"/>
            <a:ext cx="664768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ROLE  Social media campaign analyst for a Singapore SME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INPUT  one customer problem, proof, CTA, duration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TASK  sequence hook, demonstration, evidence and action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RETURN  shot-by-shot storyboard; include a source column, assumption flag and reviewer decision.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RULE  Cut scenes that do not advance message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325880"/>
            <a:ext cx="3529584" cy="1856231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65008" y="1325880"/>
            <a:ext cx="82296" cy="1856231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490472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Acceptance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075688"/>
            <a:ext cx="3118103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Output contains the requested artifact, source trace and explicit assumptions.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3401568"/>
            <a:ext cx="3529584" cy="2185416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3401568"/>
            <a:ext cx="82296" cy="2185416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3566160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4151376"/>
            <a:ext cx="3118103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Motion without proof produces weak retention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Copy the detailed prompt from the matching lab PDF; never paste personal customer data into an unapproved tool.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24  Short-video storyboard: worked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121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CHART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435608"/>
          <a:ext cx="649224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61504" y="1517904"/>
            <a:ext cx="4005072" cy="1883664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61504" y="1517904"/>
            <a:ext cx="82296" cy="1883664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62672" y="1682495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Read the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2267712"/>
            <a:ext cx="3593591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6-second hold: 28 → 39 → 51. Synthetic teaching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61504" y="3639312"/>
            <a:ext cx="4005072" cy="1938528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61504" y="3639312"/>
            <a:ext cx="82296" cy="19385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2" y="3803904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4389120"/>
            <a:ext cx="3593591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Cut scenes that do not advance message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All chart values are mock examples, not claimed platform benchmarks. Confirm metric definitions before comparison.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24  Short-video storyboard: 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122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201168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9961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Gate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389888"/>
            <a:ext cx="48006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6624" y="14996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Evidence to inspect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9208" y="1389888"/>
            <a:ext cx="43434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07224" y="149961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11095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057400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Input quality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8608" y="1911095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6624" y="2057400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one customer problem, proof, CTA, duration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9208" y="1911095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2057400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Hold if unverified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834639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2980944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Output fitness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8608" y="2834639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6624" y="2980944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shot-by-shot storyboard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79208" y="2834639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07224" y="2980944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Cut scenes that do not advance message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758183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904487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Risk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78608" y="3758183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06624" y="3904487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Motion without proof produces weak retention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79208" y="3758183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07224" y="3904487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Escalate or revise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681728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4828032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Metric readout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78608" y="4681728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6624" y="4828032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6-second hold and source rows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79208" y="4681728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07224" y="4828032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Record baseline → test → decision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The decision belongs to the campaign owner; the model is a drafting and analysis aid.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24  Short-video storyboard: review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123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Artifact to retain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shot-by-shot storyboard. Record the input source, prompt version, reviewer, date and final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Failure 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Motion without proof produces weak retention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Release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Cut scenes that do not advance message. Recheck 6-second hold against the campaign objective after launch.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Lab 05 evidence: save the artifact, decision and one corrected revision. Source: legacy:90-96.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25  Creative variant matrix: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124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29A"/>
                </a:solidFill>
                <a:latin typeface="Aptos"/>
              </a:defRPr>
            </a:pPr>
            <a:r>
              <a:t>INPUT → TRANSFORM → OUTPUT → 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1  Evidence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one offer, three hooks, two visuals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2  AI-assisted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cross controlled variants and label each cell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45936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3  Reviewable artifact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six-cell test matrix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6608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4  Control 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Test one causal variable per comparison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Source trace: McKinsey  •  Lab 05  •  Human approval precedes publication.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25  Creative variant matrix: reusable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125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325880"/>
            <a:ext cx="7223760" cy="4251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54480"/>
            <a:ext cx="664768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ROLE  Social media campaign analyst for a Singapore SME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INPUT  one offer, three hooks, two visuals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TASK  cross controlled variants and label each cell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RETURN  six-cell test matrix; include a source column, assumption flag and reviewer decision.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RULE  Test one causal variable per comparison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325880"/>
            <a:ext cx="3529584" cy="1856231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65008" y="1325880"/>
            <a:ext cx="82296" cy="1856231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490472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Acceptance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075688"/>
            <a:ext cx="3118103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Output contains the requested artifact, source trace and explicit assumptions.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3401568"/>
            <a:ext cx="3529584" cy="2185416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3401568"/>
            <a:ext cx="82296" cy="2185416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3566160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4151376"/>
            <a:ext cx="3118103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Confounded variants hide what worked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Copy the detailed prompt from the matching lab PDF; never paste personal customer data into an unapproved tool.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25  Creative variant matrix: worked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126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CHART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435608"/>
          <a:ext cx="649224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61504" y="1517904"/>
            <a:ext cx="4005072" cy="1883664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61504" y="1517904"/>
            <a:ext cx="82296" cy="1883664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62672" y="1682495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Read the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2267712"/>
            <a:ext cx="3593591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Qualified clicks: 42 → 56 → 70. Synthetic teaching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61504" y="3639312"/>
            <a:ext cx="4005072" cy="1938528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61504" y="3639312"/>
            <a:ext cx="82296" cy="19385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2" y="3803904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4389120"/>
            <a:ext cx="3593591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Test one causal variable per comparison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All chart values are mock examples, not claimed platform benchmarks. Confirm metric definitions before comparison.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25  Creative variant matrix: 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127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201168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9961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Gate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389888"/>
            <a:ext cx="48006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6624" y="14996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Evidence to inspect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9208" y="1389888"/>
            <a:ext cx="43434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07224" y="149961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11095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057400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Input quality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8608" y="1911095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6624" y="2057400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one offer, three hooks, two visuals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9208" y="1911095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2057400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Hold if unverified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834639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2980944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Output fitness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8608" y="2834639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6624" y="2980944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six-cell test matrix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79208" y="2834639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07224" y="2980944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Test one causal variable per comparison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758183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904487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Risk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78608" y="3758183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06624" y="3904487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Confounded variants hide what worked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79208" y="3758183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07224" y="3904487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Escalate or revise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681728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4828032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Metric readout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78608" y="4681728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6624" y="4828032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Qualified clicks and source rows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79208" y="4681728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07224" y="4828032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Record baseline → test → decision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The decision belongs to the campaign owner; the model is a drafting and analysis aid.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25  Creative variant matrix: review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128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Artifact to retain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six-cell test matrix. Record the input source, prompt version, reviewer, date and final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Failure 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Confounded variants hide what worked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Release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Test one causal variable per comparison. Recheck qualified clicks against the campaign objective after launch.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Lab 05 evidence: save the artifact, decision and one corrected revision. Source: McKinsey.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26  Ad campaign hierarchy: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129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29A"/>
                </a:solidFill>
                <a:latin typeface="Aptos"/>
              </a:defRPr>
            </a:pPr>
            <a:r>
              <a:t>INPUT → TRANSFORM → OUTPUT → 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1  Evidence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objective, audience, placement, creative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2  AI-assisted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map campaign to ad set to ad with ownership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45936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3  Reviewable artifact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editable hierarchy diagram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6608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4  Control 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Audit settings at each level before release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Source trace: legacy:105-126  •  Lab 06  •  Human approval precedes publication.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26  Ad campaign hierarchy: reusable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130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325880"/>
            <a:ext cx="7223760" cy="4251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54480"/>
            <a:ext cx="664768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ROLE  Social media campaign analyst for a Singapore SME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INPUT  objective, audience, placement, creative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TASK  map campaign to ad set to ad with ownership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RETURN  editable hierarchy diagram; include a source column, assumption flag and reviewer decision.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RULE  Audit settings at each level before release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325880"/>
            <a:ext cx="3529584" cy="1856231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65008" y="1325880"/>
            <a:ext cx="82296" cy="1856231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490472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Acceptance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075688"/>
            <a:ext cx="3118103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Output contains the requested artifact, source trace and explicit assumptions.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3401568"/>
            <a:ext cx="3529584" cy="2185416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3401568"/>
            <a:ext cx="82296" cy="2185416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3566160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4151376"/>
            <a:ext cx="3118103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Wrong objective optimizes the wrong event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Copy the detailed prompt from the matching lab PDF; never paste personal customer data into an unapproved tool.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26  Ad campaign hierarchy: worked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131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CHART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435608"/>
          <a:ext cx="649224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61504" y="1517904"/>
            <a:ext cx="4005072" cy="1883664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61504" y="1517904"/>
            <a:ext cx="82296" cy="1883664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62672" y="1682495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Read the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2267712"/>
            <a:ext cx="3593591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Lead rate: 1.4 → 2 → 2.6. Synthetic teaching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61504" y="3639312"/>
            <a:ext cx="4005072" cy="1938528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61504" y="3639312"/>
            <a:ext cx="82296" cy="19385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2" y="3803904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4389120"/>
            <a:ext cx="3593591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Audit settings at each level before release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All chart values are mock examples, not claimed platform benchmarks. Confirm metric definitions before comparison.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26  Ad campaign hierarchy: 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132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201168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9961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Gate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389888"/>
            <a:ext cx="48006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6624" y="14996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Evidence to inspect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9208" y="1389888"/>
            <a:ext cx="43434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07224" y="149961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11095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057400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Input quality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8608" y="1911095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6624" y="2057400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objective, audience, placement, creative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9208" y="1911095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2057400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Hold if unverified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834639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2980944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Output fitness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8608" y="2834639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6624" y="2980944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editable hierarchy diagram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79208" y="2834639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07224" y="2980944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Audit settings at each level before release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758183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904487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Risk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78608" y="3758183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06624" y="3904487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Wrong objective optimizes the wrong event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79208" y="3758183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07224" y="3904487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Escalate or revise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681728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4828032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Metric readout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78608" y="4681728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6624" y="4828032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Lead rate and source rows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79208" y="4681728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07224" y="4828032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Record baseline → test → decision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The decision belongs to the campaign owner; the model is a drafting and analysis aid.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26  Ad campaign hierarchy: review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133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Artifact to retain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editable hierarchy diagram. Record the input source, prompt version, reviewer, date and final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Failure 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Wrong objective optimizes the wrong event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Release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Audit settings at each level before release. Recheck lead rate against the campaign objective after launch.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Lab 06 evidence: save the artifact, decision and one corrected revision. Source: legacy:105-126.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27  Budget and schedule controls: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134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29A"/>
                </a:solidFill>
                <a:latin typeface="Aptos"/>
              </a:defRPr>
            </a:pPr>
            <a:r>
              <a:t>INPUT → TRANSFORM → OUTPUT → 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1  Evidence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daily cap, flight dates, business hours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2  AI-assisted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allocate spend by learning period and response capacity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45936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3  Reviewable artifact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flight and pacing plan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6608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4  Control 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Pause when spend exceeds guardrail without signals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Source trace: legacy:163-175  •  Lab 06  •  Human approval precedes publication.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27  Budget and schedule controls: reusable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135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325880"/>
            <a:ext cx="7223760" cy="4251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54480"/>
            <a:ext cx="664768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ROLE  Social media campaign analyst for a Singapore SME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INPUT  daily cap, flight dates, business hours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TASK  allocate spend by learning period and response capacity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RETURN  flight and pacing plan; include a source column, assumption flag and reviewer decision.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RULE  Pause when spend exceeds guardrail without signals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325880"/>
            <a:ext cx="3529584" cy="1856231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65008" y="1325880"/>
            <a:ext cx="82296" cy="1856231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490472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Acceptance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075688"/>
            <a:ext cx="3118103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Output contains the requested artifact, source trace and explicit assumptions.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3401568"/>
            <a:ext cx="3529584" cy="2185416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3401568"/>
            <a:ext cx="82296" cy="2185416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3566160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4151376"/>
            <a:ext cx="3118103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Automation can overspend poor creative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Copy the detailed prompt from the matching lab PDF; never paste personal customer data into an unapproved tool.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27  Budget and schedule controls: worked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136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CHART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435608"/>
          <a:ext cx="649224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61504" y="1517904"/>
            <a:ext cx="4005072" cy="1883664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61504" y="1517904"/>
            <a:ext cx="82296" cy="1883664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62672" y="1682495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Read the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2267712"/>
            <a:ext cx="3593591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Cost per lead: 34 → 28 → 22. Synthetic teaching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61504" y="3639312"/>
            <a:ext cx="4005072" cy="1938528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61504" y="3639312"/>
            <a:ext cx="82296" cy="19385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2" y="3803904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4389120"/>
            <a:ext cx="3593591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Pause when spend exceeds guardrail without signals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All chart values are mock examples, not claimed platform benchmarks. Confirm metric definitions before comparison.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27  Budget and schedule controls: 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137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201168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9961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Gate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389888"/>
            <a:ext cx="48006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6624" y="14996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Evidence to inspect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9208" y="1389888"/>
            <a:ext cx="43434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07224" y="149961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11095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057400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Input quality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8608" y="1911095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6624" y="2057400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daily cap, flight dates, business hours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9208" y="1911095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2057400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Hold if unverified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834639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2980944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Output fitness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8608" y="2834639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6624" y="2980944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flight and pacing plan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79208" y="2834639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07224" y="2980944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Pause when spend exceeds guardrail without signals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758183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904487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Risk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78608" y="3758183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06624" y="3904487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Automation can overspend poor creative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79208" y="3758183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07224" y="3904487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Escalate or revise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681728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4828032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Metric readout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78608" y="4681728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6624" y="4828032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Cost per lead and source rows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79208" y="4681728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07224" y="4828032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Record baseline → test → decision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The decision belongs to the campaign owner; the model is a drafting and analysis aid.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27  Budget and schedule controls: review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138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Artifact to retain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flight and pacing plan. Record the input source, prompt version, reviewer, date and final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Failure 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Automation can overspend poor creative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Release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Pause when spend exceeds guardrail without signals. Recheck cost per lead against the campaign objective after launch.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Lab 06 evidence: save the artifact, decision and one corrected revision. Source: legacy:163-175.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28  Content calendar orchestration: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139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29A"/>
                </a:solidFill>
                <a:latin typeface="Aptos"/>
              </a:defRPr>
            </a:pPr>
            <a:r>
              <a:t>INPUT → TRANSFORM → OUTPUT → 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1  Evidence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pillar mix, approvals, campaign dates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2  AI-assisted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schedule adapted assets with reviewer checkpoints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45936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3  Reviewable artifact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calendar and status board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6608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4  Control 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Publish only approved versions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Source trace: legacy:159-160  •  Lab 06  •  Human approval precedes publication.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28  Content calendar orchestration: reusable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140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325880"/>
            <a:ext cx="7223760" cy="4251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54480"/>
            <a:ext cx="664768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ROLE  Social media campaign analyst for a Singapore SME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INPUT  pillar mix, approvals, campaign dates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TASK  schedule adapted assets with reviewer checkpoints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RETURN  calendar and status board; include a source column, assumption flag and reviewer decision.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RULE  Publish only approved versions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325880"/>
            <a:ext cx="3529584" cy="1856231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65008" y="1325880"/>
            <a:ext cx="82296" cy="1856231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490472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Acceptance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075688"/>
            <a:ext cx="3118103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Output contains the requested artifact, source trace and explicit assumptions.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3401568"/>
            <a:ext cx="3529584" cy="2185416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3401568"/>
            <a:ext cx="82296" cy="2185416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3566160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4151376"/>
            <a:ext cx="3118103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Auto-scheduling can propagate errors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Copy the detailed prompt from the matching lab PDF; never paste personal customer data into an unapproved tool.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28  Content calendar orchestration: worked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141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CHART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435608"/>
          <a:ext cx="649224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61504" y="1517904"/>
            <a:ext cx="4005072" cy="1883664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61504" y="1517904"/>
            <a:ext cx="82296" cy="1883664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62672" y="1682495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Read the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2267712"/>
            <a:ext cx="3593591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On-time posts: 55 → 72 → 90. Synthetic teaching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61504" y="3639312"/>
            <a:ext cx="4005072" cy="1938528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61504" y="3639312"/>
            <a:ext cx="82296" cy="19385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2" y="3803904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4389120"/>
            <a:ext cx="3593591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Publish only approved versions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All chart values are mock examples, not claimed platform benchmarks. Confirm metric definitions before comparison.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28  Content calendar orchestration: 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142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201168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9961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Gate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389888"/>
            <a:ext cx="48006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6624" y="14996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Evidence to inspect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9208" y="1389888"/>
            <a:ext cx="43434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07224" y="149961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11095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057400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Input quality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8608" y="1911095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6624" y="2057400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pillar mix, approvals, campaign dates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9208" y="1911095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2057400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Hold if unverified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834639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2980944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Output fitness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8608" y="2834639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6624" y="2980944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calendar and status board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79208" y="2834639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07224" y="2980944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Publish only approved versions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758183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904487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Risk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78608" y="3758183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06624" y="3904487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Auto-scheduling can propagate errors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79208" y="3758183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07224" y="3904487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Escalate or revise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681728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4828032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Metric readout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78608" y="4681728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6624" y="4828032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On-time posts and source rows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79208" y="4681728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07224" y="4828032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Record baseline → test → decision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The decision belongs to the campaign owner; the model is a drafting and analysis aid.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28  Content calendar orchestration: review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143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Artifact to retain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calendar and status board. Record the input source, prompt version, reviewer, date and final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Failure 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Auto-scheduling can propagate errors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Release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Publish only approved versions. Recheck on-time posts against the campaign objective after launch.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Lab 06 evidence: save the artifact, decision and one corrected revision. Source: legacy:159-160.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29  UGC rights workflow: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144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29A"/>
                </a:solidFill>
                <a:latin typeface="Aptos"/>
              </a:defRPr>
            </a:pPr>
            <a:r>
              <a:t>INPUT → TRANSFORM → OUTPUT → 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1  Evidence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customer post, consent record, attribution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2  AI-assisted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verify usage scope before repost or AI edit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45936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3  Reviewable artifact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rights and approval register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6608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4  Control 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Archive proof of permission and expiry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Source trace: legacy:127-129,176-178  •  Lab 06  •  Human approval precedes publication.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29  UGC rights workflow: reusable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145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325880"/>
            <a:ext cx="7223760" cy="4251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54480"/>
            <a:ext cx="664768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ROLE  Social media campaign analyst for a Singapore SME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INPUT  customer post, consent record, attribution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TASK  verify usage scope before repost or AI edit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RETURN  rights and approval register; include a source column, assumption flag and reviewer decision.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RULE  Archive proof of permission and expiry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325880"/>
            <a:ext cx="3529584" cy="1856231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65008" y="1325880"/>
            <a:ext cx="82296" cy="1856231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490472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Acceptance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075688"/>
            <a:ext cx="3118103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Output contains the requested artifact, source trace and explicit assumptions.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3401568"/>
            <a:ext cx="3529584" cy="2185416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3401568"/>
            <a:ext cx="82296" cy="2185416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3566160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4151376"/>
            <a:ext cx="3118103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Public visibility does not grant reuse rights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Copy the detailed prompt from the matching lab PDF; never paste personal customer data into an unapproved tool.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29  UGC rights workflow: worked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146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CHART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435608"/>
          <a:ext cx="649224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61504" y="1517904"/>
            <a:ext cx="4005072" cy="1883664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61504" y="1517904"/>
            <a:ext cx="82296" cy="1883664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62672" y="1682495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Read the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2267712"/>
            <a:ext cx="3593591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Approved UGC: 4 → 7 → 10. Synthetic teaching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61504" y="3639312"/>
            <a:ext cx="4005072" cy="1938528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61504" y="3639312"/>
            <a:ext cx="82296" cy="19385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2" y="3803904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4389120"/>
            <a:ext cx="3593591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Archive proof of permission and expiry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All chart values are mock examples, not claimed platform benchmarks. Confirm metric definitions before comparison.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29  UGC rights workflow: 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147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201168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9961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Gate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389888"/>
            <a:ext cx="48006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6624" y="14996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Evidence to inspect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9208" y="1389888"/>
            <a:ext cx="43434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07224" y="149961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11095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057400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Input quality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8608" y="1911095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6624" y="2057400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customer post, consent record, attribution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9208" y="1911095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2057400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Hold if unverified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834639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2980944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Output fitness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8608" y="2834639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6624" y="2980944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rights and approval register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79208" y="2834639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07224" y="2980944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Archive proof of permission and expiry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758183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904487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Risk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78608" y="3758183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06624" y="3904487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Public visibility does not grant reuse rights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79208" y="3758183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07224" y="3904487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Escalate or revise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681728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4828032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Metric readout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78608" y="4681728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6624" y="4828032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Approved UGC and source rows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79208" y="4681728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07224" y="4828032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Record baseline → test → decision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The decision belongs to the campaign owner; the model is a drafting and analysis aid.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29  UGC rights workflow: review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148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Artifact to retain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rights and approval register. Record the input source, prompt version, reviewer, date and final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Failure 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Public visibility does not grant reuse rights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Release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Archive proof of permission and expiry. Recheck approved ugc against the campaign objective after launch.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Lab 06 evidence: save the artifact, decision and one corrected revision. Source: legacy:127-129,176-178.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30  Community response triage: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149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29A"/>
                </a:solidFill>
                <a:latin typeface="Aptos"/>
              </a:defRPr>
            </a:pPr>
            <a:r>
              <a:t>INPUT → TRANSFORM → OUTPUT → 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1  Evidence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review sentiment, severity, order details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2  AI-assisted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classify reply, escalation and private resolution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45936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3  Reviewable artifact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response decision tree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6608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4  Control 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Human handles safety, legal and personal issues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Source trace: legacy:176-178  •  Lab 06  •  Human approval precedes publication.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30  Community response triage: reusable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150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325880"/>
            <a:ext cx="7223760" cy="4251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54480"/>
            <a:ext cx="664768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ROLE  Social media campaign analyst for a Singapore SME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INPUT  review sentiment, severity, order details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TASK  classify reply, escalation and private resolution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RETURN  response decision tree; include a source column, assumption flag and reviewer decision.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RULE  Human handles safety, legal and personal issues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325880"/>
            <a:ext cx="3529584" cy="1856231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65008" y="1325880"/>
            <a:ext cx="82296" cy="1856231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490472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Acceptance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075688"/>
            <a:ext cx="3118103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Output contains the requested artifact, source trace and explicit assumptions.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3401568"/>
            <a:ext cx="3529584" cy="2185416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3401568"/>
            <a:ext cx="82296" cy="2185416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3566160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4151376"/>
            <a:ext cx="3118103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Bot replies can disclose account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Copy the detailed prompt from the matching lab PDF; never paste personal customer data into an unapproved tool.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30  Community response triage: worked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151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CHART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435608"/>
          <a:ext cx="649224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61504" y="1517904"/>
            <a:ext cx="4005072" cy="1883664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61504" y="1517904"/>
            <a:ext cx="82296" cy="1883664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62672" y="1682495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Read the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2267712"/>
            <a:ext cx="3593591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Resolved cases: 14 → 21 → 28. Synthetic teaching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61504" y="3639312"/>
            <a:ext cx="4005072" cy="1938528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61504" y="3639312"/>
            <a:ext cx="82296" cy="19385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2" y="3803904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4389120"/>
            <a:ext cx="3593591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Human handles safety, legal and personal issues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All chart values are mock examples, not claimed platform benchmarks. Confirm metric definitions before comparison.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30  Community response triage: 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152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201168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9961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Gate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389888"/>
            <a:ext cx="48006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6624" y="14996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Evidence to inspect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9208" y="1389888"/>
            <a:ext cx="43434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07224" y="149961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11095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057400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Input quality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8608" y="1911095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6624" y="2057400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review sentiment, severity, order details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9208" y="1911095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2057400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Hold if unverified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834639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2980944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Output fitness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8608" y="2834639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6624" y="2980944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response decision tree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79208" y="2834639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07224" y="2980944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Human handles safety, legal and personal issues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758183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904487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Risk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78608" y="3758183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06624" y="3904487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Bot replies can disclose account data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79208" y="3758183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07224" y="3904487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Escalate or revise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681728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4828032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Metric readout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78608" y="4681728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6624" y="4828032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Resolved cases and source rows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79208" y="4681728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07224" y="4828032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Record baseline → test → decision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The decision belongs to the campaign owner; the model is a drafting and analysis aid.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30  Community response triage: review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153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Artifact to retain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response decision tree. Record the input source, prompt version, reviewer, date and final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Failure 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Bot replies can disclose account 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Release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Human handles safety, legal and personal issues. Recheck resolved cases against the campaign objective after launch.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Lab 06 evidence: save the artifact, decision and one corrected revision. Source: legacy:176-178.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31  Tracking event map: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154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29A"/>
                </a:solidFill>
                <a:latin typeface="Aptos"/>
              </a:defRPr>
            </a:pPr>
            <a:r>
              <a:t>INPUT → TRANSFORM → OUTPUT → 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1  Evidence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landing page, click IDs, consent, lead 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2  AI-assisted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map ad click to qualified lead and CRM status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45936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3  Reviewable artifact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event and UTM schema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6608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4  Control 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Validate event firing with test conversion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Source trace: legacy:133-135,150-151  •  Lab 07  •  Human approval precedes publication.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31  Tracking event map: reusable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155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325880"/>
            <a:ext cx="7223760" cy="4251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54480"/>
            <a:ext cx="664768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ROLE  Social media campaign analyst for a Singapore SME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INPUT  landing page, click IDs, consent, lead form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TASK  map ad click to qualified lead and CRM status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RETURN  event and UTM schema; include a source column, assumption flag and reviewer decision.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RULE  Validate event firing with test conversion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325880"/>
            <a:ext cx="3529584" cy="1856231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65008" y="1325880"/>
            <a:ext cx="82296" cy="1856231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490472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Acceptance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075688"/>
            <a:ext cx="3118103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Output contains the requested artifact, source trace and explicit assumptions.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3401568"/>
            <a:ext cx="3529584" cy="2185416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3401568"/>
            <a:ext cx="82296" cy="2185416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3566160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4151376"/>
            <a:ext cx="3118103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Pixel fires without consent or wrong event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Copy the detailed prompt from the matching lab PDF; never paste personal customer data into an unapproved tool.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31  Tracking event map: worked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156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CHART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435608"/>
          <a:ext cx="649224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61504" y="1517904"/>
            <a:ext cx="4005072" cy="1883664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61504" y="1517904"/>
            <a:ext cx="82296" cy="1883664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62672" y="1682495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Read the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2267712"/>
            <a:ext cx="3593591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Matched leads: 35 → 52 → 68. Synthetic teaching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61504" y="3639312"/>
            <a:ext cx="4005072" cy="1938528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61504" y="3639312"/>
            <a:ext cx="82296" cy="19385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2" y="3803904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4389120"/>
            <a:ext cx="3593591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Validate event firing with test conversion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All chart values are mock examples, not claimed platform benchmarks. Confirm metric definitions before comparison.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31  Tracking event map: 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157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201168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9961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Gate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389888"/>
            <a:ext cx="48006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6624" y="14996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Evidence to inspect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9208" y="1389888"/>
            <a:ext cx="43434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07224" y="149961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11095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057400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Input quality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8608" y="1911095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6624" y="2057400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landing page, click IDs, consent, lead form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9208" y="1911095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2057400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Hold if unverified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834639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2980944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Output fitness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8608" y="2834639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6624" y="2980944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event and UTM schema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79208" y="2834639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07224" y="2980944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Validate event firing with test conversion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758183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904487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Risk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78608" y="3758183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06624" y="3904487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Pixel fires without consent or wrong event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79208" y="3758183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07224" y="3904487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Escalate or revise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681728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4828032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Metric readout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78608" y="4681728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6624" y="4828032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Matched leads and source rows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79208" y="4681728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07224" y="4828032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Record baseline → test → decision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The decision belongs to the campaign owner; the model is a drafting and analysis aid.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31  Tracking event map: review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158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Artifact to retain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event and UTM schema. Record the input source, prompt version, reviewer, date and final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Failure 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Pixel fires without consent or wrong event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Release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Validate event firing with test conversion. Recheck matched leads against the campaign objective after launch.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Lab 07 evidence: save the artifact, decision and one corrected revision. Source: legacy:133-135,150-151.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32  Metric hierarchy: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159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29A"/>
                </a:solidFill>
                <a:latin typeface="Aptos"/>
              </a:defRPr>
            </a:pPr>
            <a:r>
              <a:t>INPUT → TRANSFORM → OUTPUT → 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1  Evidence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reach, engagement, click, conversion,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2  AI-assisted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separate diagnostic from outcome metrics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45936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3  Reviewable artifact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KPI dashboard model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6608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4  Control 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Judge campaign on objective metric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Source trace: legacy:136-141  •  Lab 07  •  Human approval precedes publication.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32  Metric hierarchy: reusable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160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325880"/>
            <a:ext cx="7223760" cy="4251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54480"/>
            <a:ext cx="664768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ROLE  Social media campaign analyst for a Singapore SME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INPUT  reach, engagement, click, conversion, revenue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TASK  separate diagnostic from outcome metrics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RETURN  KPI dashboard model; include a source column, assumption flag and reviewer decision.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RULE  Judge campaign on objective 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325880"/>
            <a:ext cx="3529584" cy="1856231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65008" y="1325880"/>
            <a:ext cx="82296" cy="1856231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490472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Acceptance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075688"/>
            <a:ext cx="3118103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Output contains the requested artifact, source trace and explicit assumptions.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3401568"/>
            <a:ext cx="3529584" cy="2185416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3401568"/>
            <a:ext cx="82296" cy="2185416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3566160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4151376"/>
            <a:ext cx="3118103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Likes cannot prove commercial impact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Copy the detailed prompt from the matching lab PDF; never paste personal customer data into an unapproved tool.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32  Metric hierarchy: worked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161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CHART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435608"/>
          <a:ext cx="649224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61504" y="1517904"/>
            <a:ext cx="4005072" cy="1883664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61504" y="1517904"/>
            <a:ext cx="82296" cy="1883664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62672" y="1682495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Read the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2267712"/>
            <a:ext cx="3593591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Lead conversion: 1.3 → 2.1 → 3. Synthetic teaching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61504" y="3639312"/>
            <a:ext cx="4005072" cy="1938528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61504" y="3639312"/>
            <a:ext cx="82296" cy="19385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2" y="3803904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4389120"/>
            <a:ext cx="3593591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Judge campaign on objective metric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All chart values are mock examples, not claimed platform benchmarks. Confirm metric definitions before comparison.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32  Metric hierarchy: 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162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201168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9961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Gate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389888"/>
            <a:ext cx="48006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6624" y="14996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Evidence to inspect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9208" y="1389888"/>
            <a:ext cx="43434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07224" y="149961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11095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057400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Input quality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8608" y="1911095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6624" y="2057400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reach, engagement, click, conversion, revenue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9208" y="1911095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2057400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Hold if unverified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834639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2980944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Output fitness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8608" y="2834639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6624" y="2980944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KPI dashboard model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79208" y="2834639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07224" y="2980944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Judge campaign on objective metric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758183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904487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Risk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78608" y="3758183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06624" y="3904487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Likes cannot prove commercial impact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79208" y="3758183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07224" y="3904487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Escalate or revise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681728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4828032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Metric readout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78608" y="4681728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6624" y="4828032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Lead conversion and source rows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79208" y="4681728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07224" y="4828032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Record baseline → test → decision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The decision belongs to the campaign owner; the model is a drafting and analysis aid.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32  Metric hierarchy: review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163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Artifact to retain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KPI dashboard model. Record the input source, prompt version, reviewer, date and final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Failure 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Likes cannot prove commercial impact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Release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Judge campaign on objective metric. Recheck lead conversion against the campaign objective after launch.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Lab 07 evidence: save the artifact, decision and one corrected revision. Source: legacy:136-141.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33  CTR and CPC diagnosis: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164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29A"/>
                </a:solidFill>
                <a:latin typeface="Aptos"/>
              </a:defRPr>
            </a:pPr>
            <a:r>
              <a:t>INPUT → TRANSFORM → OUTPUT → 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1  Evidence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impressions, clicks, spend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2  AI-assisted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calculate CTR and CPC by ad variant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45936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3  Reviewable artifact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creative efficiency report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6608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4  Control 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Refresh hook when CTR falls with stable reach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Source trace: legacy:138-140  •  Lab 07  •  Human approval precedes publication.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33  CTR and CPC diagnosis: reusable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165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325880"/>
            <a:ext cx="7223760" cy="4251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54480"/>
            <a:ext cx="664768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ROLE  Social media campaign analyst for a Singapore SME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INPUT  impressions, clicks, spend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TASK  calculate CTR and CPC by ad variant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RETURN  creative efficiency report; include a source column, assumption flag and reviewer decision.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RULE  Refresh hook when CTR falls with stable reach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325880"/>
            <a:ext cx="3529584" cy="1856231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65008" y="1325880"/>
            <a:ext cx="82296" cy="1856231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490472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Acceptance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075688"/>
            <a:ext cx="3118103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Output contains the requested artifact, source trace and explicit assumptions.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3401568"/>
            <a:ext cx="3529584" cy="2185416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3401568"/>
            <a:ext cx="82296" cy="2185416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3566160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4151376"/>
            <a:ext cx="3118103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Low CPC can still bring poor leads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Copy the detailed prompt from the matching lab PDF; never paste personal customer data into an unapproved tool.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33  CTR and CPC diagnosis: worked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166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CHART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435608"/>
          <a:ext cx="649224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61504" y="1517904"/>
            <a:ext cx="4005072" cy="1883664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61504" y="1517904"/>
            <a:ext cx="82296" cy="1883664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62672" y="1682495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Read the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2267712"/>
            <a:ext cx="3593591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CTR: 1.1 → 1.8 → 2.4. Synthetic teaching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61504" y="3639312"/>
            <a:ext cx="4005072" cy="1938528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61504" y="3639312"/>
            <a:ext cx="82296" cy="19385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2" y="3803904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4389120"/>
            <a:ext cx="3593591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Refresh hook when CTR falls with stable reach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All chart values are mock examples, not claimed platform benchmarks. Confirm metric definitions before comparison.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33  CTR and CPC diagnosis: 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167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201168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9961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Gate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389888"/>
            <a:ext cx="48006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6624" y="14996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Evidence to inspect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9208" y="1389888"/>
            <a:ext cx="43434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07224" y="149961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11095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057400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Input quality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8608" y="1911095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6624" y="2057400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impressions, clicks, spend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9208" y="1911095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2057400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Hold if unverified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834639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2980944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Output fitness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8608" y="2834639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6624" y="2980944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creative efficiency report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79208" y="2834639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07224" y="2980944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Refresh hook when CTR falls with stable reach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758183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904487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Risk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78608" y="3758183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06624" y="3904487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Low CPC can still bring poor leads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79208" y="3758183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07224" y="3904487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Escalate or revise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681728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4828032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Metric readout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78608" y="4681728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6624" y="4828032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CTR and source rows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79208" y="4681728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07224" y="4828032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Record baseline → test → decision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The decision belongs to the campaign owner; the model is a drafting and analysis aid.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33  CTR and CPC diagnosis: review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168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Artifact to retain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creative efficiency report. Record the input source, prompt version, reviewer, date and final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Failure 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Low CPC can still bring poor leads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Release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Refresh hook when CTR falls with stable reach. Recheck ctr against the campaign objective after launch.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Lab 07 evidence: save the artifact, decision and one corrected revision. Source: legacy:138-140.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34  CPA and ROAS diagnosis: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169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29A"/>
                </a:solidFill>
                <a:latin typeface="Aptos"/>
              </a:defRPr>
            </a:pPr>
            <a:r>
              <a:t>INPUT → TRANSFORM → OUTPUT → 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1  Evidence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spend, tracked conversions,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2  AI-assisted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calculate CPA, ROAS and contribution return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45936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3  Reviewable artifact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unit economics table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6608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4  Control 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Compare with margin-adjusted break-even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Source trace: legacy:141,168  •  Lab 07  •  Human approval precedes publication.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34  CPA and ROAS diagnosis: reusable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170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325880"/>
            <a:ext cx="7223760" cy="4251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54480"/>
            <a:ext cx="664768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ROLE  Social media campaign analyst for a Singapore SME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INPUT  spend, tracked conversions, revenue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TASK  calculate CPA, ROAS and contribution return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RETURN  unit economics table; include a source column, assumption flag and reviewer decision.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RULE  Compare with margin-adjusted break-even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325880"/>
            <a:ext cx="3529584" cy="1856231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65008" y="1325880"/>
            <a:ext cx="82296" cy="1856231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490472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Acceptance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075688"/>
            <a:ext cx="3118103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Output contains the requested artifact, source trace and explicit assumptions.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3401568"/>
            <a:ext cx="3529584" cy="2185416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3401568"/>
            <a:ext cx="82296" cy="2185416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3566160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4151376"/>
            <a:ext cx="3118103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Attribution may omit offline sales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Copy the detailed prompt from the matching lab PDF; never paste personal customer data into an unapproved tool.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34  CPA and ROAS diagnosis: worked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171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CHART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435608"/>
          <a:ext cx="649224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61504" y="1517904"/>
            <a:ext cx="4005072" cy="1883664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61504" y="1517904"/>
            <a:ext cx="82296" cy="1883664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62672" y="1682495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Read the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2267712"/>
            <a:ext cx="3593591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ROAS: 1.4 → 2 → 2.8. Synthetic teaching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61504" y="3639312"/>
            <a:ext cx="4005072" cy="1938528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61504" y="3639312"/>
            <a:ext cx="82296" cy="19385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2" y="3803904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4389120"/>
            <a:ext cx="3593591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Compare with margin-adjusted break-even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All chart values are mock examples, not claimed platform benchmarks. Confirm metric definitions before comparison.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34  CPA and ROAS diagnosis: 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172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201168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9961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Gate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389888"/>
            <a:ext cx="48006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6624" y="14996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Evidence to inspect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9208" y="1389888"/>
            <a:ext cx="43434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07224" y="149961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11095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057400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Input quality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8608" y="1911095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6624" y="2057400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spend, tracked conversions, revenue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9208" y="1911095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2057400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Hold if unverified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834639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2980944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Output fitness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8608" y="2834639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6624" y="2980944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unit economics table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79208" y="2834639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07224" y="2980944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Compare with margin-adjusted break-even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758183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904487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Risk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78608" y="3758183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06624" y="3904487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Attribution may omit offline sales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79208" y="3758183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07224" y="3904487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Escalate or revise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681728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4828032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Metric readout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78608" y="4681728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6624" y="4828032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ROAS and source rows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79208" y="4681728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07224" y="4828032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Record baseline → test → decision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The decision belongs to the campaign owner; the model is a drafting and analysis aid.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34  CPA and ROAS diagnosis: review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173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Artifact to retain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unit economics table. Record the input source, prompt version, reviewer, date and final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Failure 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Attribution may omit offline sales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Release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Compare with margin-adjusted break-even. Recheck roas against the campaign objective after launch.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Lab 07 evidence: save the artifact, decision and one corrected revision. Source: legacy:141,168.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35  Frequency and fatigue: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174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29A"/>
                </a:solidFill>
                <a:latin typeface="Aptos"/>
              </a:defRPr>
            </a:pPr>
            <a:r>
              <a:t>INPUT → TRANSFORM → OUTPUT → 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1  Evidence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reach, impressions, weekly creative response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2  AI-assisted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calculate frequency and compare decay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45936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3  Reviewable artifact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fatigue alert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6608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4  Control 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Rotate creative when frequency rises and CTR falls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Source trace: legacy:137-138  •  Lab 07  •  Human approval precedes publication.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35  Frequency and fatigue: reusable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175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325880"/>
            <a:ext cx="7223760" cy="4251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54480"/>
            <a:ext cx="664768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ROLE  Social media campaign analyst for a Singapore SME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INPUT  reach, impressions, weekly creative response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TASK  calculate frequency and compare decay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RETURN  fatigue alert; include a source column, assumption flag and reviewer decision.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RULE  Rotate creative when frequency rises and CTR falls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325880"/>
            <a:ext cx="3529584" cy="1856231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65008" y="1325880"/>
            <a:ext cx="82296" cy="1856231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490472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Acceptance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075688"/>
            <a:ext cx="3118103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Output contains the requested artifact, source trace and explicit assumptions.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3401568"/>
            <a:ext cx="3529584" cy="2185416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3401568"/>
            <a:ext cx="82296" cy="2185416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3566160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4151376"/>
            <a:ext cx="3118103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More impressions may mean saturation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Copy the detailed prompt from the matching lab PDF; never paste personal customer data into an unapproved tool.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35  Frequency and fatigue: worked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176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CHART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435608"/>
          <a:ext cx="649224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61504" y="1517904"/>
            <a:ext cx="4005072" cy="1883664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61504" y="1517904"/>
            <a:ext cx="82296" cy="1883664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62672" y="1682495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Read the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2267712"/>
            <a:ext cx="3593591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Frequency: 1.8 → 2.6 → 3.7. Synthetic teaching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61504" y="3639312"/>
            <a:ext cx="4005072" cy="1938528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61504" y="3639312"/>
            <a:ext cx="82296" cy="19385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2" y="3803904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4389120"/>
            <a:ext cx="3593591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Rotate creative when frequency rises and CTR falls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All chart values are mock examples, not claimed platform benchmarks. Confirm metric definitions before comparison.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35  Frequency and fatigue: 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177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201168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9961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Gate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389888"/>
            <a:ext cx="48006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6624" y="14996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Evidence to inspect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9208" y="1389888"/>
            <a:ext cx="43434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07224" y="149961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11095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057400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Input quality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8608" y="1911095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6624" y="2057400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reach, impressions, weekly creative response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9208" y="1911095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2057400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Hold if unverified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834639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2980944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Output fitness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8608" y="2834639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6624" y="2980944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fatigue alert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79208" y="2834639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07224" y="2980944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Rotate creative when frequency rises and CTR falls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758183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904487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Risk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78608" y="3758183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06624" y="3904487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More impressions may mean saturation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79208" y="3758183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07224" y="3904487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Escalate or revise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681728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4828032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Metric readout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78608" y="4681728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6624" y="4828032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Frequency and source rows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79208" y="4681728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07224" y="4828032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Record baseline → test → decision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The decision belongs to the campaign owner; the model is a drafting and analysis aid.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35  Frequency and fatigue: review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178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Artifact to retain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fatigue alert. Record the input source, prompt version, reviewer, date and final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Failure 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More impressions may mean saturation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Release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Rotate creative when frequency rises and CTR falls. Recheck frequency against the campaign objective after launch.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Lab 07 evidence: save the artifact, decision and one corrected revision. Source: legacy:137-138.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36  A/B test interpretation: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179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29A"/>
                </a:solidFill>
                <a:latin typeface="Aptos"/>
              </a:defRPr>
            </a:pPr>
            <a:r>
              <a:t>INPUT → TRANSFORM → OUTPUT → 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1  Evidence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two variants, same audience, sample size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2  AI-assisted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compare conversion and uncertainty before choosing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45936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3  Reviewable artifact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test decision memo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6608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4  Control 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Do not crown a winner on tiny samples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Source trace: legacy:153-162  •  Lab 08  •  Human approval precedes publication.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36  A/B test interpretation: reusable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180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325880"/>
            <a:ext cx="7223760" cy="4251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54480"/>
            <a:ext cx="664768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ROLE  Social media campaign analyst for a Singapore SME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INPUT  two variants, same audience, sample size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TASK  compare conversion and uncertainty before choosing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RETURN  test decision memo; include a source column, assumption flag and reviewer decision.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RULE  Do not crown a winner on tiny samples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325880"/>
            <a:ext cx="3529584" cy="1856231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65008" y="1325880"/>
            <a:ext cx="82296" cy="1856231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490472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Acceptance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075688"/>
            <a:ext cx="3118103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Output contains the requested artifact, source trace and explicit assumptions.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3401568"/>
            <a:ext cx="3529584" cy="2185416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3401568"/>
            <a:ext cx="82296" cy="2185416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3566160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4151376"/>
            <a:ext cx="3118103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Peeking can create false confidence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Copy the detailed prompt from the matching lab PDF; never paste personal customer data into an unapproved tool.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36  A/B test interpretation: worked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181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CHART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435608"/>
          <a:ext cx="649224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61504" y="1517904"/>
            <a:ext cx="4005072" cy="1883664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61504" y="1517904"/>
            <a:ext cx="82296" cy="1883664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62672" y="1682495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Read the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2267712"/>
            <a:ext cx="3593591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Conversion rate: 1.2 → 1.6 → 2. Synthetic teaching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61504" y="3639312"/>
            <a:ext cx="4005072" cy="1938528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61504" y="3639312"/>
            <a:ext cx="82296" cy="19385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2" y="3803904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4389120"/>
            <a:ext cx="3593591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Do not crown a winner on tiny samples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All chart values are mock examples, not claimed platform benchmarks. Confirm metric definitions before comparison.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36  A/B test interpretation: 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182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201168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9961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Gate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389888"/>
            <a:ext cx="48006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6624" y="14996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Evidence to inspect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9208" y="1389888"/>
            <a:ext cx="43434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07224" y="149961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11095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057400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Input quality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8608" y="1911095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6624" y="2057400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two variants, same audience, sample size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9208" y="1911095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2057400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Hold if unverified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834639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2980944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Output fitness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8608" y="2834639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6624" y="2980944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test decision memo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79208" y="2834639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07224" y="2980944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Do not crown a winner on tiny samples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758183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904487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Risk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78608" y="3758183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06624" y="3904487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Peeking can create false confidence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79208" y="3758183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07224" y="3904487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Escalate or revise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681728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4828032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Metric readout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78608" y="4681728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6624" y="4828032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Conversion rate and source rows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79208" y="4681728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07224" y="4828032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Record baseline → test → decision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The decision belongs to the campaign owner; the model is a drafting and analysis aid.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36  A/B test interpretation: review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183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Artifact to retain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test decision memo. Record the input source, prompt version, reviewer, date and final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Failure 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Peeking can create false confidence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Release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Do not crown a winner on tiny samples. Recheck conversion rate against the campaign objective after launch.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Lab 08 evidence: save the artifact, decision and one corrected revision. Source: legacy:153-162.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37  AI-assisted report narrative: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184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29A"/>
                </a:solidFill>
                <a:latin typeface="Aptos"/>
              </a:defRPr>
            </a:pPr>
            <a:r>
              <a:t>INPUT → TRANSFORM → OUTPUT → 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1  Evidence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clean export, metric definitions, anomalies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2  AI-assisted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ask AI to summarize changes with cited rows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45936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3  Reviewable artifact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reviewed weekly insight memo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6608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4  Control 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Every statement must trace to data cell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Source trace: legacy:142-149  •  Lab 08  •  Human approval precedes publication.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37  AI-assisted report narrative: reusable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185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325880"/>
            <a:ext cx="7223760" cy="4251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54480"/>
            <a:ext cx="664768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ROLE  Social media campaign analyst for a Singapore SME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INPUT  clean export, metric definitions, anomalies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TASK  ask AI to summarize changes with cited rows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RETURN  reviewed weekly insight memo; include a source column, assumption flag and reviewer decision.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RULE  Every statement must trace to data cell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325880"/>
            <a:ext cx="3529584" cy="1856231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65008" y="1325880"/>
            <a:ext cx="82296" cy="1856231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490472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Acceptance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075688"/>
            <a:ext cx="3118103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Output contains the requested artifact, source trace and explicit assumptions.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3401568"/>
            <a:ext cx="3529584" cy="2185416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3401568"/>
            <a:ext cx="82296" cy="2185416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3566160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4151376"/>
            <a:ext cx="3118103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AI can invent causality from correlation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Copy the detailed prompt from the matching lab PDF; never paste personal customer data into an unapproved tool.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37  AI-assisted report narrative: worked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186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CHART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435608"/>
          <a:ext cx="649224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61504" y="1517904"/>
            <a:ext cx="4005072" cy="1883664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61504" y="1517904"/>
            <a:ext cx="82296" cy="1883664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62672" y="1682495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Read the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2267712"/>
            <a:ext cx="3593591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Actionable insights: 2 → 4 → 6. Synthetic teaching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61504" y="3639312"/>
            <a:ext cx="4005072" cy="1938528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61504" y="3639312"/>
            <a:ext cx="82296" cy="19385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2" y="3803904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4389120"/>
            <a:ext cx="3593591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Every statement must trace to data cell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All chart values are mock examples, not claimed platform benchmarks. Confirm metric definitions before comparison.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37  AI-assisted report narrative: 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187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201168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9961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Gate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389888"/>
            <a:ext cx="48006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6624" y="14996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Evidence to inspect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9208" y="1389888"/>
            <a:ext cx="43434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07224" y="149961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11095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057400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Input quality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8608" y="1911095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6624" y="2057400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clean export, metric definitions, anomalies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9208" y="1911095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2057400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Hold if unverified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834639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2980944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Output fitness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8608" y="2834639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6624" y="2980944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reviewed weekly insight memo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79208" y="2834639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07224" y="2980944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Every statement must trace to data cell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758183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904487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Risk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78608" y="3758183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06624" y="3904487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AI can invent causality from correlation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79208" y="3758183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07224" y="3904487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Escalate or revise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681728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4828032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Metric readout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78608" y="4681728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6624" y="4828032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Actionable insights and source rows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79208" y="4681728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07224" y="4828032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Record baseline → test → decision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The decision belongs to the campaign owner; the model is a drafting and analysis aid.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37  AI-assisted report narrative: review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188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17320"/>
            <a:ext cx="4773168" cy="192024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" y="1417320"/>
            <a:ext cx="82296" cy="192024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581912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Artifact to retain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67128"/>
            <a:ext cx="436168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reviewed weekly insight memo. Record source, prompt version, reviewer and final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" y="3584448"/>
            <a:ext cx="4773168" cy="1956816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5216" y="3584448"/>
            <a:ext cx="82296" cy="1956816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3749039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Release check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4334256"/>
            <a:ext cx="4361688" cy="1042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Every statement must trace to data cell. Risk: AI can invent causality from correlation.</a:t>
            </a:r>
          </a:p>
        </p:txBody>
      </p:sp>
      <p:pic>
        <p:nvPicPr>
          <p:cNvPr id="16" name="Picture 15" descr="analyst-scene-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1417320"/>
            <a:ext cx="5943600" cy="33450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Lab 08 evidence: save the artifact, decision and one corrected revision. Source: legacy:142-149.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38  Retargeting eligibility: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189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29A"/>
                </a:solidFill>
                <a:latin typeface="Aptos"/>
              </a:defRPr>
            </a:pPr>
            <a:r>
              <a:t>INPUT → TRANSFORM → OUTPUT → 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1  Evidence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consent, site visits, exclusions, window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2  AI-assisted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build eligible audience with suppression rules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45936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3  Reviewable artifact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retargeting policy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6608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4  Control 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Exclude converters and honor consent changes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Source trace: legacy:150-151  •  Lab 08  •  Human approval precedes publication.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38  Retargeting eligibility: reusable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190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325880"/>
            <a:ext cx="7223760" cy="4251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54480"/>
            <a:ext cx="664768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ROLE  Social media campaign analyst for a Singapore SME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INPUT  consent, site visits, exclusions, window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TASK  build eligible audience with suppression rules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RETURN  retargeting policy; include a source column, assumption flag and reviewer decision.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RULE  Exclude converters and honor consent changes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325880"/>
            <a:ext cx="3529584" cy="1856231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65008" y="1325880"/>
            <a:ext cx="82296" cy="1856231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490472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Acceptance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075688"/>
            <a:ext cx="3118103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Output contains the requested artifact, source trace and explicit assumptions.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3401568"/>
            <a:ext cx="3529584" cy="2185416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3401568"/>
            <a:ext cx="82296" cy="2185416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3566160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4151376"/>
            <a:ext cx="3118103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Persistent targeting can feel intrusive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Copy the detailed prompt from the matching lab PDF; never paste personal customer data into an unapproved tool.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38  Retargeting eligibility: worked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191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CHART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435608"/>
          <a:ext cx="649224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61504" y="1517904"/>
            <a:ext cx="4005072" cy="1883664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61504" y="1517904"/>
            <a:ext cx="82296" cy="1883664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62672" y="1682495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Read the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2267712"/>
            <a:ext cx="3593591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Recovered leads: 6 → 11 → 17. Synthetic teaching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61504" y="3639312"/>
            <a:ext cx="4005072" cy="1938528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61504" y="3639312"/>
            <a:ext cx="82296" cy="19385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2" y="3803904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4389120"/>
            <a:ext cx="3593591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Exclude converters and honor consent changes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All chart values are mock examples, not claimed platform benchmarks. Confirm metric definitions before comparison.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38  Retargeting eligibility: 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192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201168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9961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Gate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389888"/>
            <a:ext cx="48006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6624" y="14996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Evidence to inspect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9208" y="1389888"/>
            <a:ext cx="43434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07224" y="149961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11095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057400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Input quality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8608" y="1911095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6624" y="2057400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consent, site visits, exclusions, window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9208" y="1911095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2057400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Hold if unverified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834639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2980944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Output fitness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8608" y="2834639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6624" y="2980944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retargeting policy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79208" y="2834639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07224" y="2980944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Exclude converters and honor consent changes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758183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904487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Risk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78608" y="3758183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06624" y="3904487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Persistent targeting can feel intrusive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79208" y="3758183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07224" y="3904487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Escalate or revise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681728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4828032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Metric readout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78608" y="4681728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6624" y="4828032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Recovered leads and source rows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79208" y="4681728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07224" y="4828032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Record baseline → test → decision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The decision belongs to the campaign owner; the model is a drafting and analysis aid.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38  Retargeting eligibility: review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193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Artifact to retain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retargeting policy. Record the input source, prompt version, reviewer, date and final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Failure 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Persistent targeting can feel intrusive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Release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Exclude converters and honor consent changes. Recheck recovered leads against the campaign objective after launch.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Lab 08 evidence: save the artifact, decision and one corrected revision. Source: legacy:150-151.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39  Budget reallocation: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194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29A"/>
                </a:solidFill>
                <a:latin typeface="Aptos"/>
              </a:defRPr>
            </a:pPr>
            <a:r>
              <a:t>INPUT → TRANSFORM → OUTPUT → 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1  Evidence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segment CPA, lead quality, delivery constraints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2  AI-assisted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shift spend toward incremental qualified return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45936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3  Reviewable artifact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reallocation decision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6608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4  Control 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Reserve a test budget and cap downside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Source trace: legacy:167-174  •  Lab 08  •  Human approval precedes publication.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39  Budget reallocation: reusable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195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325880"/>
            <a:ext cx="7223760" cy="4251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54480"/>
            <a:ext cx="664768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ROLE  Social media campaign analyst for a Singapore SME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INPUT  segment CPA, lead quality, delivery constraints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TASK  shift spend toward incremental qualified return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RETURN  reallocation decision; include a source column, assumption flag and reviewer decision.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RULE  Reserve a test budget and cap downside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325880"/>
            <a:ext cx="3529584" cy="1856231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65008" y="1325880"/>
            <a:ext cx="82296" cy="1856231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490472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Acceptance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075688"/>
            <a:ext cx="3118103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Output contains the requested artifact, source trace and explicit assumptions.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3401568"/>
            <a:ext cx="3529584" cy="2185416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3401568"/>
            <a:ext cx="82296" cy="2185416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3566160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4151376"/>
            <a:ext cx="3118103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Optimizing solely to ROAS may starve discovery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Copy the detailed prompt from the matching lab PDF; never paste personal customer data into an unapproved tool.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39  Budget reallocation: worked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196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CHART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435608"/>
          <a:ext cx="649224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61504" y="1517904"/>
            <a:ext cx="4005072" cy="1883664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61504" y="1517904"/>
            <a:ext cx="82296" cy="1883664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62672" y="1682495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Read the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2267712"/>
            <a:ext cx="3593591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Qualified leads: 14 → 20 → 27. Synthetic teaching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61504" y="3639312"/>
            <a:ext cx="4005072" cy="1938528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61504" y="3639312"/>
            <a:ext cx="82296" cy="19385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2" y="3803904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4389120"/>
            <a:ext cx="3593591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Reserve a test budget and cap downside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All chart values are mock examples, not claimed platform benchmarks. Confirm metric definitions before comparison.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39  Budget reallocation: 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197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201168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9961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Gate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389888"/>
            <a:ext cx="48006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6624" y="14996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Evidence to inspect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9208" y="1389888"/>
            <a:ext cx="43434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07224" y="149961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11095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057400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Input quality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8608" y="1911095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6624" y="2057400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segment CPA, lead quality, delivery constraints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9208" y="1911095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2057400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Hold if unverified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834639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2980944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Output fitness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8608" y="2834639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6624" y="2980944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reallocation decision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79208" y="2834639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07224" y="2980944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Reserve a test budget and cap downside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758183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904487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Risk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78608" y="3758183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06624" y="3904487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Optimizing solely to ROAS may starve discovery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79208" y="3758183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07224" y="3904487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Escalate or revise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681728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4828032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Metric readout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78608" y="4681728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6624" y="4828032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Qualified leads and source rows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79208" y="4681728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07224" y="4828032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Record baseline → test → decision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The decision belongs to the campaign owner; the model is a drafting and analysis aid.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39  Budget reallocation: review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198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Artifact to retain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reallocation decision. Record the input source, prompt version, reviewer, date and final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Failure 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Optimizing solely to ROAS may starve discovery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Release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Reserve a test budget and cap downside. Recheck qualified leads against the campaign objective after launch.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Lab 08 evidence: save the artifact, decision and one corrected revision. Source: legacy:167-174.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40  Organisational impact review: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199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29A"/>
                </a:solidFill>
                <a:latin typeface="Aptos"/>
              </a:defRPr>
            </a:pPr>
            <a:r>
              <a:t>INPUT → TRANSFORM → OUTPUT → 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1  Evidence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baseline effort, cost, quality, outcomes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2  AI-assisted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compare AI-assisted workflow with control and risk cost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45936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3  Reviewable artifact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impact scorecard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311810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6833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874519"/>
            <a:ext cx="2688336" cy="3273552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1874519"/>
            <a:ext cx="82296" cy="3273552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6608" y="2039112"/>
            <a:ext cx="2304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4  Control 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624327"/>
            <a:ext cx="227685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Adopt only with measured quality and governance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Source trace: HBR  •  Lab 08  •  Human approval precedes publication.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40  Organisational impact review: reusable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200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325880"/>
            <a:ext cx="7223760" cy="4251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54480"/>
            <a:ext cx="664768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ROLE  Social media campaign analyst for a Singapore SME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INPUT  baseline effort, cost, quality, outcomes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TASK  compare AI-assisted workflow with control and risk cost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RETURN  impact scorecard; include a source column, assumption flag and reviewer decision.</a:t>
            </a: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232D3A"/>
                </a:solidFill>
                <a:latin typeface="Aptos"/>
              </a:defRPr>
            </a:pPr>
            <a:r>
              <a:t>RULE  Adopt only with measured quality and governance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325880"/>
            <a:ext cx="3529584" cy="1856231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65008" y="1325880"/>
            <a:ext cx="82296" cy="1856231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490472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Acceptance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075688"/>
            <a:ext cx="3118103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Output contains the requested artifact, source trace and explicit assumptions.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3401568"/>
            <a:ext cx="3529584" cy="2185416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3401568"/>
            <a:ext cx="82296" cy="2185416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3566160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Reject 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4151376"/>
            <a:ext cx="3118103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Speed gains can hide review burden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Copy the detailed prompt from the matching lab PDF; never paste personal customer data into an unapproved tool.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40  Organisational impact review: worked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201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CHART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435608"/>
          <a:ext cx="649224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61504" y="1517904"/>
            <a:ext cx="4005072" cy="1883664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61504" y="1517904"/>
            <a:ext cx="82296" cy="1883664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62672" y="1682495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Read the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2267712"/>
            <a:ext cx="3593591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Hours saved: 4 → 8 → 12. Synthetic teaching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61504" y="3639312"/>
            <a:ext cx="4005072" cy="1938528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61504" y="3639312"/>
            <a:ext cx="82296" cy="19385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2" y="3803904"/>
            <a:ext cx="3621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4389120"/>
            <a:ext cx="3593591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Adopt only with measured quality and governance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All chart values are mock examples, not claimed platform benchmarks. Confirm metric definitions before comparison.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40  Organisational impact review: 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202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201168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9961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Gate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389888"/>
            <a:ext cx="48006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6624" y="14996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Evidence to inspect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9208" y="1389888"/>
            <a:ext cx="4343400" cy="521207"/>
          </a:xfrm>
          <a:prstGeom prst="rect">
            <a:avLst/>
          </a:prstGeom>
          <a:solidFill>
            <a:srgbClr val="11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07224" y="149961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11095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057400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Input quality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8608" y="1911095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6624" y="2057400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baseline effort, cost, quality, outcomes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9208" y="1911095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2057400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Hold if unverified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834639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2980944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Output fitness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8608" y="2834639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6624" y="2980944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impact scorecard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79208" y="2834639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07224" y="2980944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Adopt only with measured quality and governance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758183"/>
            <a:ext cx="201168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904487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Risk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78608" y="3758183"/>
            <a:ext cx="48006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06624" y="3904487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Speed gains can hide review burden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79208" y="3758183"/>
            <a:ext cx="4343400" cy="914400"/>
          </a:xfrm>
          <a:prstGeom prst="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07224" y="3904487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Escalate or revise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681728"/>
            <a:ext cx="201168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4828032"/>
            <a:ext cx="1755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2D3A"/>
                </a:solidFill>
                <a:latin typeface="Aptos"/>
              </a:defRPr>
            </a:pPr>
            <a:r>
              <a:t>Metric readout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78608" y="4681728"/>
            <a:ext cx="48006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6624" y="4828032"/>
            <a:ext cx="45445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Hours saved and source rows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79208" y="4681728"/>
            <a:ext cx="434340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07224" y="4828032"/>
            <a:ext cx="4087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Record baseline → test → decision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The decision belongs to the campaign owner; the model is a drafting and analysis aid.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2A49"/>
                </a:solidFill>
                <a:latin typeface="Aptos"/>
              </a:defRPr>
            </a:pPr>
            <a:r>
              <a:t>40  Organisational impact review: review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77686"/>
                </a:solidFill>
                <a:latin typeface="Aptos"/>
              </a:defRPr>
            </a:pPr>
            <a:r>
              <a:t>203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9264"/>
            <a:ext cx="1097280" cy="64008"/>
          </a:xfrm>
          <a:prstGeom prst="rect">
            <a:avLst/>
          </a:prstGeom>
          <a:solidFill>
            <a:srgbClr val="E68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3749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29A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Artifact to retain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impact scorecard. Record the input source, prompt version, reviewer, date and final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Failure 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Speed gains can hide review burden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417320"/>
            <a:ext cx="3502152" cy="411480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417320"/>
            <a:ext cx="82296" cy="411480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1581912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Release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167128"/>
            <a:ext cx="3090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Adopt only with measured quality and governance. Recheck hours saved against the campaign objective after launch.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9253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77686"/>
                </a:solidFill>
                <a:latin typeface="Aptos"/>
              </a:defRPr>
            </a:pPr>
            <a:r>
              <a:t>Lab 08 evidence: save the artifact, decision and one corrected revision. Source: HBR.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12A49"/>
                </a:solidFill>
                <a:latin typeface="Aptos"/>
              </a:defRPr>
            </a:pPr>
            <a:r>
              <a:t>Course feedback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107899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29A"/>
                </a:solidFill>
                <a:latin typeface="Aptos"/>
              </a:defRPr>
            </a:pPr>
            <a:r>
              <a:t>Help us improve this course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920240"/>
            <a:ext cx="2608326" cy="324612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920240"/>
            <a:ext cx="82296" cy="324612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84832"/>
            <a:ext cx="222427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Share feedback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70048"/>
            <a:ext cx="2196846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Tell us what worked and what could be clearer.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94710" y="1920240"/>
            <a:ext cx="2608326" cy="324612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94710" y="1920240"/>
            <a:ext cx="82296" cy="324612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95878" y="2084832"/>
            <a:ext cx="222427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Rate the course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95878" y="2670048"/>
            <a:ext cx="2196846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Complete the feedback form sent to your email.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7628" y="1920240"/>
            <a:ext cx="2608326" cy="324612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67628" y="1920240"/>
            <a:ext cx="82296" cy="324612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68796" y="2084832"/>
            <a:ext cx="222427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Certificate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8796" y="2670048"/>
            <a:ext cx="2196846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Your certificate of completion will be emailed after the course.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40546" y="1920240"/>
            <a:ext cx="2608326" cy="324612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40546" y="1920240"/>
            <a:ext cx="82296" cy="324612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1714" y="2084832"/>
            <a:ext cx="222427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Keep in touch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1714" y="2670048"/>
            <a:ext cx="2196846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Contact us any time at enquiry@tertiaryinfotech.com.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" y="647395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12A49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107899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29A"/>
                </a:solidFill>
                <a:latin typeface="Aptos"/>
              </a:defRPr>
            </a:pPr>
            <a:r>
              <a:t>Continue improving with reviewed evidence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56231"/>
            <a:ext cx="5212080" cy="347472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856231"/>
            <a:ext cx="82296" cy="347472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2020824"/>
            <a:ext cx="4828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Support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606039"/>
            <a:ext cx="4800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enquiry@tertiaryinfotech.com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856231"/>
            <a:ext cx="5212080" cy="3474720"/>
          </a:xfrm>
          <a:prstGeom prst="roundRect">
            <a:avLst/>
          </a:prstGeom>
          <a:solidFill>
            <a:srgbClr val="EB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856231"/>
            <a:ext cx="82296" cy="3474720"/>
          </a:xfrm>
          <a:prstGeom prst="rect">
            <a:avLst/>
          </a:prstGeom>
          <a:solidFill>
            <a:srgbClr val="009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7" y="2020824"/>
            <a:ext cx="4828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2A49"/>
                </a:solidFill>
                <a:latin typeface="Aptos"/>
              </a:defRPr>
            </a:pPr>
            <a:r>
              <a:t>Course page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4807" y="2606039"/>
            <a:ext cx="4800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A"/>
                </a:solidFill>
                <a:latin typeface="Aptos"/>
              </a:defRPr>
            </a:pPr>
            <a:r>
              <a:t>https://www.tertiarycourses.com.sg/generative-ai-for-social-media-marketing.html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647395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 b="0">
                <a:solidFill>
                  <a:srgbClr val="677686"/>
                </a:solidFill>
                <a:latin typeface="Aptos"/>
              </a:defRPr>
            </a:pPr>
            <a:r>
              <a:t>© Tertiary Infotech Academy Pte Ltd • UEN 201200696W • Generative AI for Social Media Marketing • C1468 • v1.0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