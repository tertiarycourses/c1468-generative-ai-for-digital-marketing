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Generative AI for Digital Marketing (C1468)</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C1468</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27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Industry certified in the subject area of this course.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for Tertiary Infotech Academy.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Set the foundation and create the content — set up an AI marketing toolkit, define the Kopi Culture Co. brand voice and audience personas, learn responsible generation, then produce the Neighbourhood Series social, ad, email, image and video content on one consistent brand voice.</a:t>
            </a:r>
          </a:p>
          <a:p>
            <a:pPr>
              <a:spcAft>
                <a:spcPts val="1000"/>
              </a:spcAft>
            </a:pPr>
            <a:r>
              <a:rPr sz="1400" b="0">
                <a:solidFill>
                  <a:srgbClr val="5B6372"/>
                </a:solidFill>
                <a:latin typeface="Arial"/>
              </a:rPr>
              <a:t>–  Topic 1: Getting Started with Generative AI for Marketing (Labs 1–4)</a:t>
            </a:r>
          </a:p>
          <a:p>
            <a:pPr>
              <a:spcAft>
                <a:spcPts val="1000"/>
              </a:spcAft>
            </a:pPr>
            <a:r>
              <a:rPr sz="1400" b="0">
                <a:solidFill>
                  <a:srgbClr val="5B6372"/>
                </a:solidFill>
                <a:latin typeface="Arial"/>
              </a:rPr>
              <a:t>–  Topic 2: Content Creation with Generative AI (Labs 5–8)</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Plan, optimise, analyse and automate — research audiences and keywords, plan the multi-channel campaign, personalise and scale the content, A/B test and optimise, analyse performance, automate the workflow, report the insights, and assemble the reusable AI Marketing Playbook.</a:t>
            </a:r>
          </a:p>
          <a:p>
            <a:pPr>
              <a:spcAft>
                <a:spcPts val="1000"/>
              </a:spcAft>
            </a:pPr>
            <a:r>
              <a:rPr sz="1400" b="0">
                <a:solidFill>
                  <a:srgbClr val="5B6372"/>
                </a:solidFill>
                <a:latin typeface="Arial"/>
              </a:rPr>
              <a:t>–  Topic 3: Campaign Planning and Optimisation with AI (Labs 9–12)</a:t>
            </a:r>
          </a:p>
          <a:p>
            <a:pPr>
              <a:spcAft>
                <a:spcPts val="1000"/>
              </a:spcAft>
            </a:pPr>
            <a:r>
              <a:rPr sz="1400" b="0">
                <a:solidFill>
                  <a:srgbClr val="5B6372"/>
                </a:solidFill>
                <a:latin typeface="Arial"/>
              </a:rPr>
              <a:t>–  Topic 4: Analytics and Workflow with AI (Labs 13–16)</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9:00am–6:00pm · 1-hour lunch · tea breaks within training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AI marketing toolkit</a:t>
            </a:r>
          </a:p>
          <a:p>
            <a:pPr algn="l">
              <a:spcAft>
                <a:spcPts val="300"/>
              </a:spcAft>
            </a:pPr>
            <a:r>
              <a:rPr sz="1300" b="0">
                <a:solidFill>
                  <a:srgbClr val="5B6372"/>
                </a:solidFill>
                <a:latin typeface="Arial"/>
              </a:rPr>
              <a:t>Explain how generative AI supports digital marketing, and set up an AI marketing toolkit — general chat assistants (ChatGPT, Claude, Gemini, Copilot) and AI image and video tools — for marketing work.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Marketing prompting</a:t>
            </a:r>
          </a:p>
          <a:p>
            <a:pPr algn="l">
              <a:spcAft>
                <a:spcPts val="300"/>
              </a:spcAft>
            </a:pPr>
            <a:r>
              <a:rPr sz="1300" b="0">
                <a:solidFill>
                  <a:srgbClr val="5B6372"/>
                </a:solidFill>
                <a:latin typeface="Arial"/>
              </a:rPr>
              <a:t>Write effective, structured marketing prompts and build a reusable marketing prompt library.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Voice &amp; personas</a:t>
            </a:r>
          </a:p>
          <a:p>
            <a:pPr algn="l">
              <a:spcAft>
                <a:spcPts val="300"/>
              </a:spcAft>
            </a:pPr>
            <a:r>
              <a:rPr sz="1300" b="0">
                <a:solidFill>
                  <a:srgbClr val="5B6372"/>
                </a:solidFill>
                <a:latin typeface="Arial"/>
              </a:rPr>
              <a:t>Use generative AI to define a consistent brand voice and to build clear audience personas for a campaign.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Responsible generation</a:t>
            </a:r>
          </a:p>
          <a:p>
            <a:pPr algn="l">
              <a:spcAft>
                <a:spcPts val="300"/>
              </a:spcAft>
            </a:pPr>
            <a:r>
              <a:rPr sz="1300" b="0">
                <a:solidFill>
                  <a:srgbClr val="5B6372"/>
                </a:solidFill>
                <a:latin typeface="Arial"/>
              </a:rPr>
              <a:t>Generate marketing copy, images and ideas with AI, applying responsible-use practices — originality, accuracy of claims, disclosure and platform rules.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Social content</a:t>
            </a:r>
          </a:p>
          <a:p>
            <a:pPr algn="l">
              <a:spcAft>
                <a:spcPts val="300"/>
              </a:spcAft>
            </a:pPr>
            <a:r>
              <a:rPr sz="1300" b="0">
                <a:solidFill>
                  <a:srgbClr val="5B6372"/>
                </a:solidFill>
                <a:latin typeface="Arial"/>
              </a:rPr>
              <a:t>Create platform-appropriate social media content — post concepts, hooks, captions and a content calendar — with AI.</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Ad &amp; email copy</a:t>
            </a:r>
          </a:p>
          <a:p>
            <a:pPr algn="l">
              <a:spcAft>
                <a:spcPts val="300"/>
              </a:spcAft>
            </a:pPr>
            <a:r>
              <a:rPr sz="1300" b="0">
                <a:solidFill>
                  <a:srgbClr val="5B6372"/>
                </a:solidFill>
                <a:latin typeface="Arial"/>
              </a:rPr>
              <a:t>Write ad and email copy with AI — ad headlines and body variations, and launch and nurture emails with clear calls to action.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Images &amp; video</a:t>
            </a:r>
          </a:p>
          <a:p>
            <a:pPr algn="l">
              <a:spcAft>
                <a:spcPts val="300"/>
              </a:spcAft>
            </a:pPr>
            <a:r>
              <a:rPr sz="1300" b="0">
                <a:solidFill>
                  <a:srgbClr val="5B6372"/>
                </a:solidFill>
                <a:latin typeface="Arial"/>
              </a:rPr>
              <a:t>Generate on-brand images and short-form marketing videos with AI image and video tools.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Brand consistency</a:t>
            </a:r>
          </a:p>
          <a:p>
            <a:pPr algn="l">
              <a:spcAft>
                <a:spcPts val="300"/>
              </a:spcAft>
            </a:pPr>
            <a:r>
              <a:rPr sz="1300" b="0">
                <a:solidFill>
                  <a:srgbClr val="5B6372"/>
                </a:solidFill>
                <a:latin typeface="Arial"/>
              </a:rPr>
              <a:t>Maintain brand voice and consistency across channels, and repurpose one core piece of content into many.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Audience &amp; keywords</a:t>
            </a:r>
          </a:p>
          <a:p>
            <a:pPr algn="l">
              <a:spcAft>
                <a:spcPts val="300"/>
              </a:spcAft>
            </a:pPr>
            <a:r>
              <a:rPr sz="1300" b="0">
                <a:solidFill>
                  <a:srgbClr val="5B6372"/>
                </a:solidFill>
                <a:latin typeface="Arial"/>
              </a:rPr>
              <a:t>Research audiences and keywords with AI — deepen personas, and build keyword clusters for SEO and paid search.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Campaign plan</a:t>
            </a:r>
          </a:p>
          <a:p>
            <a:pPr algn="l">
              <a:spcAft>
                <a:spcPts val="300"/>
              </a:spcAft>
            </a:pPr>
            <a:r>
              <a:rPr sz="1300" b="0">
                <a:solidFill>
                  <a:srgbClr val="5B6372"/>
                </a:solidFill>
                <a:latin typeface="Arial"/>
              </a:rPr>
              <a:t>Plan a multi-channel marketing campaign with AI — objectives, funnel, channel mix, content map and timeline.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11</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Personalise &amp; scale</a:t>
            </a:r>
          </a:p>
          <a:p>
            <a:pPr algn="l">
              <a:spcAft>
                <a:spcPts val="300"/>
              </a:spcAft>
            </a:pPr>
            <a:r>
              <a:rPr sz="1300" b="0">
                <a:solidFill>
                  <a:srgbClr val="5B6372"/>
                </a:solidFill>
                <a:latin typeface="Arial"/>
              </a:rPr>
              <a:t>Personalise and scale marketing content with AI — variants by segment and channel — without losing the brand voice.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12</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A/B test &amp; optimise</a:t>
            </a:r>
          </a:p>
          <a:p>
            <a:pPr algn="l">
              <a:spcAft>
                <a:spcPts val="300"/>
              </a:spcAft>
            </a:pPr>
            <a:r>
              <a:rPr sz="1300" b="0">
                <a:solidFill>
                  <a:srgbClr val="5B6372"/>
                </a:solidFill>
                <a:latin typeface="Arial"/>
              </a:rPr>
              <a:t>Design and run A/B tests with AI — hypotheses, variants and metrics — and use the results to optimise.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13</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Performance analysis</a:t>
            </a:r>
          </a:p>
          <a:p>
            <a:pPr algn="l">
              <a:spcAft>
                <a:spcPts val="300"/>
              </a:spcAft>
            </a:pPr>
            <a:r>
              <a:rPr sz="1300" b="0">
                <a:solidFill>
                  <a:srgbClr val="5B6372"/>
                </a:solidFill>
                <a:latin typeface="Arial"/>
              </a:rPr>
              <a:t>Analyse marketing performance with AI — read the key metrics, diagnose what is underperforming and decide the next action.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14</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Workflow automation</a:t>
            </a:r>
          </a:p>
          <a:p>
            <a:pPr algn="l">
              <a:spcAft>
                <a:spcPts val="300"/>
              </a:spcAft>
            </a:pPr>
            <a:r>
              <a:rPr sz="1300" b="0">
                <a:solidFill>
                  <a:srgbClr val="5B6372"/>
                </a:solidFill>
                <a:latin typeface="Arial"/>
              </a:rPr>
              <a:t>Automate repetitive marketing workflows with AI — design a practical, repeatable automation for your team.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15</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Reporting &amp; insights</a:t>
            </a:r>
          </a:p>
          <a:p>
            <a:pPr algn="l">
              <a:spcAft>
                <a:spcPts val="300"/>
              </a:spcAft>
            </a:pPr>
            <a:r>
              <a:rPr sz="1300" b="0">
                <a:solidFill>
                  <a:srgbClr val="5B6372"/>
                </a:solidFill>
                <a:latin typeface="Arial"/>
              </a:rPr>
              <a:t>Turn marketing data into reporting and insights with AI — a clear performance summary and next-step recommendations.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16</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Marketing playbook</a:t>
            </a:r>
          </a:p>
          <a:p>
            <a:pPr algn="l">
              <a:spcAft>
                <a:spcPts val="300"/>
              </a:spcAft>
            </a:pPr>
            <a:r>
              <a:rPr sz="1300" b="0">
                <a:solidFill>
                  <a:srgbClr val="5B6372"/>
                </a:solidFill>
                <a:latin typeface="Arial"/>
              </a:rPr>
              <a:t>Combine everything into a reusable AI Marketing Playbook and present the campaign.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What Generative AI for Digital Marketing Really 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A partner for the whole marketing workflow — you describe a marketing task in words and AI returns usable first drafts (audience research, a campaign plan, copy, images, video scripts, analysis) in seconds, which you then curate, refine and make on-brand.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Two toolsets, one campaign — chat assistants (ChatGPT, Claude, Gemini, Copilot) generate the ideas, words, plans and analysis; AI image and video tools generate the visuals. You learn to move marketing work smoothly between them.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Generate, review, decide — the workflow is always the same: give a structured prompt, review the options against the brand and the goal, and take ownership of the result. The AI generates; you set the strategy and decide.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Results are the point — the aim is not just making content faster; it is running a better campaign — better targeted, more consistent, tested and measured — while the strategy, brand and the customer's trust stay yours.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AI-Assisted Marketing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Understand</a:t>
            </a:r>
          </a:p>
          <a:p>
            <a:pPr algn="l">
              <a:spcAft>
                <a:spcPts val="300"/>
              </a:spcAft>
            </a:pPr>
            <a:r>
              <a:rPr sz="1200" b="0">
                <a:solidFill>
                  <a:srgbClr val="5B6372"/>
                </a:solidFill>
                <a:latin typeface="Arial"/>
              </a:rPr>
              <a:t>Use AI to research the audience and the keywords, and to define the brand voice and personas — so every output is judged against a real customer and a real goal.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Plan</a:t>
            </a:r>
          </a:p>
          <a:p>
            <a:pPr algn="l">
              <a:spcAft>
                <a:spcPts val="300"/>
              </a:spcAft>
            </a:pPr>
            <a:r>
              <a:rPr sz="1200" b="0">
                <a:solidFill>
                  <a:srgbClr val="5B6372"/>
                </a:solidFill>
                <a:latin typeface="Arial"/>
              </a:rPr>
              <a:t>Use AI to set objectives, map content to the funnel, choose the channel mix, and build a realistic, budget-aware campaign plan and calendar.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Create</a:t>
            </a:r>
          </a:p>
          <a:p>
            <a:pPr algn="l">
              <a:spcAft>
                <a:spcPts val="300"/>
              </a:spcAft>
            </a:pPr>
            <a:r>
              <a:rPr sz="1200" b="0">
                <a:solidFill>
                  <a:srgbClr val="5B6372"/>
                </a:solidFill>
                <a:latin typeface="Arial"/>
              </a:rPr>
              <a:t>Draft the social, ad, email, image and video content — all on one voice and one look — and repurpose one core idea across every channel.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Optimise</a:t>
            </a:r>
          </a:p>
          <a:p>
            <a:pPr algn="l">
              <a:spcAft>
                <a:spcPts val="300"/>
              </a:spcAft>
            </a:pPr>
            <a:r>
              <a:rPr sz="1200" b="0">
                <a:solidFill>
                  <a:srgbClr val="5B6372"/>
                </a:solidFill>
                <a:latin typeface="Arial"/>
              </a:rPr>
              <a:t>Personalise and scale the content by segment, then A/B test the key elements and keep the winners — improving with each round.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Measure</a:t>
            </a:r>
          </a:p>
          <a:p>
            <a:pPr algn="l">
              <a:spcAft>
                <a:spcPts val="300"/>
              </a:spcAft>
            </a:pPr>
            <a:r>
              <a:rPr sz="1200" b="0">
                <a:solidFill>
                  <a:srgbClr val="5B6372"/>
                </a:solidFill>
                <a:latin typeface="Arial"/>
              </a:rPr>
              <a:t>Analyse the performance, report the insights and recommendations in plain language, automate the repetitive work, and capture it all in a reusable playbook.</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MARKETING RULE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Generative AI gives you a fast first draft of every part of a marketing campaign — the craft is prompting well, planning with strategy, curating with brand judgement, testing what works, and directing the campaign yourself.</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This course is hands-on: you take one product launch — the Neighbourhood Series for Kopi Culture Co., a fictional Singapore specialty-coffee brand releasing a range of local-flavour drip-bag coffees and a monthly subscription — from a blank page to a complete, multi-channel digital-marketing campaign and a reusable AI Marketing Playbook, using ChatGPT, Claude, Gemini, Microsoft Copilot and AI image and video tools.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An AI marketing toolkit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ChatGPT, Claude, Gemini, Copilot and image/video tools set up</a:t>
            </a:r>
          </a:p>
          <a:p>
            <a:pPr>
              <a:spcAft>
                <a:spcPts val="900"/>
              </a:spcAft>
            </a:pPr>
            <a:r>
              <a:rPr sz="1400" b="0">
                <a:solidFill>
                  <a:srgbClr val="161B26"/>
                </a:solidFill>
                <a:latin typeface="Arial"/>
              </a:rPr>
              <a:t>•  A reusable marketing prompt library</a:t>
            </a:r>
          </a:p>
          <a:p>
            <a:pPr>
              <a:spcAft>
                <a:spcPts val="900"/>
              </a:spcAft>
            </a:pPr>
            <a:r>
              <a:rPr sz="1400" b="0">
                <a:solidFill>
                  <a:srgbClr val="161B26"/>
                </a:solidFill>
                <a:latin typeface="Arial"/>
              </a:rPr>
              <a:t>•  A locked brand voice and audience personas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 multi-channel content kit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Social posts, hooks, captions and a calendar</a:t>
            </a:r>
          </a:p>
          <a:p>
            <a:pPr>
              <a:spcAft>
                <a:spcPts val="900"/>
              </a:spcAft>
            </a:pPr>
            <a:r>
              <a:rPr sz="1400" b="0">
                <a:solidFill>
                  <a:srgbClr val="161B26"/>
                </a:solidFill>
                <a:latin typeface="Arial"/>
              </a:rPr>
              <a:t>•  Ad copy and launch and nurture emails</a:t>
            </a:r>
          </a:p>
          <a:p>
            <a:pPr>
              <a:spcAft>
                <a:spcPts val="900"/>
              </a:spcAft>
            </a:pPr>
            <a:r>
              <a:rPr sz="1400" b="0">
                <a:solidFill>
                  <a:srgbClr val="161B26"/>
                </a:solidFill>
                <a:latin typeface="Arial"/>
              </a:rPr>
              <a:t>•  On-brand images and short-form video</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 planned, optimised campaign</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Audience and keyword research</a:t>
            </a:r>
          </a:p>
          <a:p>
            <a:pPr>
              <a:spcAft>
                <a:spcPts val="900"/>
              </a:spcAft>
            </a:pPr>
            <a:r>
              <a:rPr sz="1400" b="0">
                <a:solidFill>
                  <a:srgbClr val="161B26"/>
                </a:solidFill>
                <a:latin typeface="Arial"/>
              </a:rPr>
              <a:t>•  A multi-channel campaign plan and funnel</a:t>
            </a:r>
          </a:p>
          <a:p>
            <a:pPr>
              <a:spcAft>
                <a:spcPts val="900"/>
              </a:spcAft>
            </a:pPr>
            <a:r>
              <a:rPr sz="1400" b="0">
                <a:solidFill>
                  <a:srgbClr val="161B26"/>
                </a:solidFill>
                <a:latin typeface="Arial"/>
              </a:rPr>
              <a:t>•  Personalised, scaled and A/B-tested content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The trainer demonstrates the AI technique on the shared Kopi Culture Co. Neighbourhood Series campaign example.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run it yourself in ChatGPT, Claude, Gemini, Copilot or your AI image/video tool using the supplied Kopi Culture Co. brief.</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verify the result against the lab's explicit 'Test it' check.</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review and refine — curate the options, cut the clichés, check the claims, fix anything off-brand — until it meets the standard.</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keep the reviewed output — each becomes the next part of your Neighbourhood Series campaign and AI Marketing Playbook.</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Started with Generative AI for Marketing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Introduction to generative AI for digital marketing · Popular GenAI tools (ChatGPT, Claude, image and video generators) · Writing effective prompts for marketing · Generating copy, images and ideas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Generative AI for Marketing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Generative AI as a marketing partner — a generative AI assistant is a tireless teammate across the whole marketing workflow: it researches, plans, writes, illustrates, analyses and reports, turning a blank page into a fast first draft that you shape into an on-brand, on-strategy campaign.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Where AI helps in digital marketing — marketing runs on a cycle (understand the audience, plan the campaign, create the content, publish across channels, measure and optimise); AI can accelerate every stage, but the strategy, brand judgement and final decisions stay yours.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Popular GenAI tools — ChatGPT, Claude, Gemini and Microsoft Copilot are general chat assistants that generate and refine text, ideas and analysis; AI image tools (DALL·E in ChatGPT, Adobe Firefly, Microsoft Designer, Gemini, Canva) and AI video tools generate visuals and short clips from a prompt. The prompting skills you learn transfer across all of them.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What AI is good (and not good) at — AI is strong at volume, variation, drafting, summarising and first-pass analysis; it is weak at knowing your brand, your real customers and your live numbers, and it will confidently state things that are wrong, so you brief it well, verify, and decide.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generate–review–refine loop — every marketing AI task follows the same loop: you prompt, the AI generates options, you review them against the brand and the goal, and you refine with follow-up prompts and your own edits until it is right. This loop drives every lab.</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Prompting is the core marketing skill — a strong marketing prompt gives the AI a role, the context (brand, audience, goal, channel), the exact task, the format you want back and clear constraints (tone, length, what to avoid); a vague ask gives generic output, a structured ask gives usable, on-brand marketing content.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Generative AI for Marketing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reusable marketing prompt library — the same marketing tasks recur on every campaign (audience research, ad copy, captions, subject lines, image briefs, analysis), so you save your best prompts as reusable templates with clearly marked slots you fill in for any brief.</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Brand voice and audience come first — AI only sounds like your brand and speaks to your customer when you tell it who the brand is and who the audience is; you define the voice and the personas early and hold every AI output to them.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Generating copy, images and ideas — from one good brief, AI can produce a batch of campaign ideas, draft copy and starter visuals in minutes; you treat all of it as raw material to curate, fact-check and make genuinely your own.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Responsible and transparent use — you keep confidential customer data and unpublished plans out of public AI tools, check every claim and statistic, respect copyright and the ad platforms' rules, avoid imitating a real brand, and are transparent about AI assistance where it matters.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Getting Started with Generative AI for Marketing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Set Up Your AI Marketing Toolkit</a:t>
            </a:r>
          </a:p>
          <a:p>
            <a:pPr>
              <a:spcAft>
                <a:spcPts val="900"/>
              </a:spcAft>
            </a:pPr>
            <a:r>
              <a:rPr sz="1400" b="0">
                <a:solidFill>
                  <a:srgbClr val="161B26"/>
                </a:solidFill>
                <a:latin typeface="Arial"/>
              </a:rPr>
              <a:t>•  Write Effective Marketing Prompts and Build a Prompt Library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Define Your Brand Voice and Audience Personas</a:t>
            </a:r>
          </a:p>
          <a:p>
            <a:pPr>
              <a:spcAft>
                <a:spcPts val="900"/>
              </a:spcAft>
            </a:pPr>
            <a:r>
              <a:rPr sz="1400" b="0">
                <a:solidFill>
                  <a:srgbClr val="161B26"/>
                </a:solidFill>
                <a:latin typeface="Arial"/>
              </a:rPr>
              <a:t>•  Generate Your First Copy, Images and Ideas — Responsibly</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Marketing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This lab gets you comfortable with the tools before any real marketing work begins. You open the chat assistants (ChatGPT, Claude, Gemini and Microsoft Copilot), confirm you are signed in, and run a simple marketing prompt so you see how each generates ideas and copy, then run the same prompt in a second assistant to feel how they differ.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Your AI marketing toolkit set up and tested — at least one chat assistant and one AI image tool signed in and responding — a first throwaway AI-generated idea list and product image, and a clear, written map of where AI helps across the marketing workflow and the generate–review–refine loop.</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Claude, Gemini, Microsoft Copilot, an AI image tool, an AI video tool, account sign-in, first marketing prompts, comparing assistants, the generate–review–refine loop</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Marketing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a project folder on your machine called 'KCC-Neighbourhood-Series' so every file and note you make across the two days stays together. Open ChatGPT (chat.openai.com), Claude (claude.ai), Gemini (gemini.google.com) and Microsoft Copilot (copilot.microsoft.com) in browser tabs and confirm you are signed in to at least 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Marketing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one chat assistant, run a simple first marketing prompt to see how it generates ideas. Paste the prompt below and read the reply.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You are a digital marketing strategist. Give me eight short campaign ideas to launch a range of local-flavour drip-bag coffees for a small Singapore specialty-coffee brand aimed at young urban coffee lovers. Keep each idea to one line.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Marketing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exact same prompt in a second assistant and compare the two replies. Notice differences in tone, ideas and range — the skill you learn transfers across all of them, so use whichever you prefer for a given task.</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You are a digital marketing strategist. Give me eight short campaign ideas to launch a range of local-flavour drip-bag coffees for a small Singapore specialty-coffee brand aimed at young urban coffee lovers. Keep each idea to one line.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Marketing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your AI image tool (DALL·E in ChatGPT, Gemini, Microsoft Copilot / Designer, Adobe Firefly or Canva), sign in, and generate a quick throwaway product image from a one-line prompt so you can see what image generation produces.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A premium drip-bag coffee sachet on a marble café table with a cup of black coffee and soft morning light, minimal and modern, product photography, square format.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Marketing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Look at what the image tool produced — a generated visual from a text description, in seconds. Note that it is a fast starting point, not a finished asset, and that AI images can invent odd details or garbled text. You will not keep this one; it is only to feel the tool. Note where an AI video tool (Canva, Gemini/Veo or a text-to-video generator) would fit for a Reel or TikTok later.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Marketing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Map where AI helps across the marketing workflow. In one line each, note how AI could help at research, planning, content creation, publishing and measuring — and where it needs you (it does not know the Kopi Culture Co. brand, your real customers, or your live numbers). This good/not-good picture guides how you use AI all day.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Marketing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supplied Kopi Culture Co. brief (labs/reference-pack/): the brand story, the Neighbourhood Series range and its four coffees, the audiences, the channels and the brand voice notes. Skim it so you know the campaign you are about to build.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Marketing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notes into your KCC-Neighbourhood-Series folder. Write one line, in your own words, describing the generate -&gt; review -&gt; refine loop — you rely on it in every later lab.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Marketing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signed in to at least one chat assistant and to an AI image tool, run the same prompt in two assistants and compared them, generated a throwaway product image, written a one-line map of where AI helps across the marketing workflow and what it is not good at, skimmed the Kopi Culture Co. brief, and described the generate–review–refine loop in your own words — all saved in your KCC-Neighbourhood-Series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Marketing Prompts and Build a Prompt Library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A good marketing result starts with a good prompt, not a lucky one. In this lab you read the Kopi Culture Co. brief and write a deliberately vague prompt first, so you see how generic the result is. You then rebuild it with five clear parts — a role for the AI, the context (brand, audience, goal, channel), the exact task, the format you want back, and clear constraints (tone, length, what to avoid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500" b="1">
                <a:solidFill>
                  <a:srgbClr val="161B26"/>
                </a:solidFill>
                <a:latin typeface="Arial"/>
              </a:rPr>
              <a:t>A structured marketing prompt built from role, context, task, format and constraints, plus a reusable marketing prompt library with clearly marked slots for the recurring marketing tasks,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the structured prompt framework (role, context, task, format, constraints), prompt iteration, a reusable marketing prompt library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Marketing Prompts and Build a Prompt Library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Kopi Culture Co. brief and note two things you will reuse in every prompt: who the audience is (young urban coffee lovers, busy work-from-home professionals, gift shoppers) and the goal (launch the Neighbourhood Series and grow online sales and subscriptions).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Marketing Prompts and Build a Prompt Library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a deliberately vague first prompt in any assistant and generate, so you can see the generic result. Paste the prompt below and read how unfocused and clichéd the reply is.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Write some marketing copy for coffee.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Marketing Prompts and Build a Prompt Library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Rebuild the prompt with a role and the context, and regenerate. Paste the prompt below and compare it with the vague version.</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You are a senior copywriter for consumer lifestyle brands. Context: Kopi Culture Co. is a Singapore specialty-coffee brand launching the Neighbourhood Series, a range of four local-flavour drip-bag coffees for the year-end gifting season, aimed at young urban coffee lovers and gift shoppers. Draft a short introduction to the range.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Marketing Prompts and Build a Prompt Library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Now add the exact task, the format you want back, and clear constraints, and regenerate.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As the same copywriter, write three options for a 40-word introduction to the Neighbourhood Series. Make it warm, characterful and proudly local; avoid clichés like 'elevate your mornings' and 'the perfect gift'; do not invent awards, origins or claims. Present them as a numbered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Marketing Prompts and Build a Prompt Library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Put the vague result and the structured result side by side. Note in one line how much more usable and on-brand the structured prompt was — this is the core lesson of the day.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Marketing Prompts and Build a Prompt Library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two or three single-change edits to feel how each part steers the result — for example change the audience to 'busy work-from-home professionals', or change the tone to 'playful and witty' — and note which you would keep for the Neighbourhood Series.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Marketing Prompts and Build a Prompt Library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a reusable marketing prompt library in your project folder: templates for audience research, ad copy, social captions, email subject lines, image briefs and performance analysis, each with clearly marked slots — [ROLE], [CONTEXT], [AUDIENCE], [CHANNEL], [TASK], [FORMAT], [CONSTRAINTS] — that you fill in for any future campaign.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Marketing Prompts and Build a Prompt Library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compared a vague prompt with a structured one built from role, context, task, format and constraints, seen how much better and more on-brand the structured prompt performs, run single-change edits to feel each part, and saved a reusable marketing prompt library with marked slots for the recurring marketing tasks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Define Your Brand Voice and Audience Personas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A campaign only works when it sounds like one brand and speaks to a real person. In this lab you use a chat assistant to articulate the Kopi Culture Co. voice from the brief — the tone (the mood: warm, characterful, proudly local, a little witty), the style (short, vivid, conversational) and the voice (the consistent personality) — and to generate voice attributes with side-by-side on-voice and of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A Kopi Culture Co. brand voice guide — three to five voice attributes, on-voice vs off-voice example lines, and a 'words we use / words we avoid' list — plus three audience personas with goals, pain points, channels and language, tested by rewriting a flat line in the voice,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defining brand voice (tone, style, voice), on-voice vs off-voice examples, building audience personas, targeting language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Define Your Brand Voice and Audience Personas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Kopi Culture Co. brief and read the brand story and voice notes — the brand is small-batch, proudly Singaporean, celebrates neighbourhood culture, is warm and a little witty, and knows its coffee. These are the raw material for the voice.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Define Your Brand Voice and Audience Personas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to articulate the voice from the brief. Paste the prompt below.</a:t>
            </a:r>
          </a:p>
        </p:txBody>
      </p:sp>
      <p:sp>
        <p:nvSpPr>
          <p:cNvPr id="11" name="Rectangle 10"/>
          <p:cNvSpPr/>
          <p:nvPr/>
        </p:nvSpPr>
        <p:spPr>
          <a:xfrm>
            <a:off x="2331720" y="3794760"/>
            <a:ext cx="9235440" cy="14630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1225296"/>
          </a:xfrm>
          <a:prstGeom prst="rect">
            <a:avLst/>
          </a:prstGeom>
          <a:noFill/>
        </p:spPr>
        <p:txBody>
          <a:bodyPr wrap="square" anchor="ctr">
            <a:spAutoFit/>
          </a:bodyPr>
          <a:lstStyle/>
          <a:p>
            <a:pPr algn="l">
              <a:spcAft>
                <a:spcPts val="400"/>
              </a:spcAft>
            </a:pPr>
            <a:r>
              <a:rPr sz="1200" b="0">
                <a:solidFill>
                  <a:srgbClr val="9CDCFE"/>
                </a:solidFill>
                <a:latin typeface="Arial"/>
              </a:rPr>
              <a:t>$ You are a brand voice strategist. Based on this brand — Kopi Culture Co., a Singapore specialty-coffee brand: small-batch, proudly local, celebrating the city's neighbourhoods and flavours, warm, characterful and a little witty, and genuinely knowledgeable about coffee — define its brand voice. Give me: (1) three to five voice attributes, each with a one-line description; (2) the tone and the writing style; (3) the kind of personality it should feel like. Keep it concise.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Define Your Brand Voice and Audience Personas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Make the voice guide usable with concrete examples.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For that Kopi Culture Co. voice, write three short example lines that are ON voice and, next to each, a version that is OFF voice (too generic, too corporate or too hype), and one line explaining the difference. Then give me a short 'words and phrases we use' and 'words and phrases we avoid'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Define Your Brand Voice and Audience Personas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Now build the audience personas. Paste the prompt below and read the three profiles.</a:t>
            </a:r>
          </a:p>
        </p:txBody>
      </p:sp>
      <p:sp>
        <p:nvSpPr>
          <p:cNvPr id="11" name="Rectangle 10"/>
          <p:cNvSpPr/>
          <p:nvPr/>
        </p:nvSpPr>
        <p:spPr>
          <a:xfrm>
            <a:off x="2331720" y="3794760"/>
            <a:ext cx="9235440" cy="14630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1225296"/>
          </a:xfrm>
          <a:prstGeom prst="rect">
            <a:avLst/>
          </a:prstGeom>
          <a:noFill/>
        </p:spPr>
        <p:txBody>
          <a:bodyPr wrap="square" anchor="ctr">
            <a:spAutoFit/>
          </a:bodyPr>
          <a:lstStyle/>
          <a:p>
            <a:pPr algn="l">
              <a:spcAft>
                <a:spcPts val="400"/>
              </a:spcAft>
            </a:pPr>
            <a:r>
              <a:rPr sz="1200" b="0">
                <a:solidFill>
                  <a:srgbClr val="9CDCFE"/>
                </a:solidFill>
                <a:latin typeface="Arial"/>
              </a:rPr>
              <a:t>$ Build three concise audience personas for the Neighbourhood Series launch: (1) young urban coffee lovers (25-38) who care about quality, origin and aesthetics and discover brands on Instagram and TikTok; (2) busy work-from-home professionals (30-45) who want great coffee at home with convenience and value a subscription; (3) gift shoppers buying a thoughtful local present in the year-end season. For each persona give: a one-line summary, their goals, their pain points, the channels they use, and three words or phrases they actually use about coffee.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Define Your Brand Voice and Audience Personas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Test the voice on a real line. Paste the prompt below and judge whether the rewrite truly sounds like the brand.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Here is a flat product line: 'Our new coffee is great and makes a good gift.' Rewrite it in three ways that fully match the Kopi Culture Co. voice you defined, keeping each under 25 words.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Define Your Brand Voice and Audience Personas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Judge and refine: if a rewrite or a persona still sounds generic, tell the AI exactly what is wrong ('too corporate', 'not local enough', 'personas feel interchangeable') and regenerate until they land. Tighten your voice attributes and personas based on what you learn.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Define Your Brand Voice and Audience Personas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final brand voice guide — attributes, on-voice/off-voice examples, and the words-we-use/avoid list — and the three personas in your project folder. Every later lab holds its content and targeting to these.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Define Your Brand Voice and Audience Personas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brand voice guide with three to five voice attributes, side-by-side on-voice and off-voice example lines and a words-we-use/avoid list, plus three distinct audience personas with goals, pain points, channels and language — tested by rewriting a flat line so it genuinely sounds like Kopi Culture Co. —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Your First Copy, Images and Ideas — Responsibly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Now you generate real marketing material for the first time, and agree how you will generate it responsibly. Using your Lab 3 voice and personas, you prompt AI for a batch of Neighbourhood Series campaign ideas, a short copy draft and a starter product image, so you see the whole generate–review–refine loop on actual deliverables.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A first batch of Neighbourhood Series campaign ideas, a short on-voice copy draft and a starter product image, plus a responsible-generation checklist applied to the campaign — covering accuracy of claims, originality, disclosure, customer-data privacy and ad-platform rules — with the brand's decisions recorded.</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an AI image tool, generating copy/images/ideas, responsible AI use, accuracy of claims, data privacy, ad-platform rules, disclosure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Your First Copy, Images and Ideas — Responsibly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Using your brand voice and personas from Lab 3, generate a first batch of campaign ideas.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Using this brand voice [paste your Kopi Culture Co. voice attributes] and these personas [paste your three personas], give me ten campaign ideas for the Neighbourhood Series launch — a mix of organic social, email and small-budget paid — each as a one-line concept naming the persona it targets. Keep them on voice and realistic for a small brand.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Your First Copy, Images and Ideas — Responsibly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a short copy draft and a starter image so you see the loop on real deliverables. Paste the copy prompt into a chat assistant, then paste the image prompt into your AI image tool.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Write a 50-word launch announcement for the Neighbourhood Series in the Kopi Culture Co. voice, for the young-urban-coffee-lover persona, ending with a clear call to action. Avoid clichés and do not invent awards or claims.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Your First Copy, Images and Ideas — Responsibly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the starter image. Paste this into your AI image tool and review it against the brand.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Four premium drip-bag coffee sachets in a giftable box on a marble café table, warm natural light, modern minimal Singapore café aesthetic, no text and no logos, product photography, square 1:1.</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Your First Copy, Images and Ideas — Responsibly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outputs with a critical eye: which idea is strongest for each persona, does the copy claim anything you can't back up, and does the image invent any odd detail? Note what you would keep and what you would fix — this is the generate–review–refine loop on real work.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Your First Copy, Images and Ideas — Responsibly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to draft a responsible-use checklist for AI-assisted marketing. Paste the prompt below.</a:t>
            </a:r>
          </a:p>
        </p:txBody>
      </p:sp>
      <p:sp>
        <p:nvSpPr>
          <p:cNvPr id="11" name="Rectangle 10"/>
          <p:cNvSpPr/>
          <p:nvPr/>
        </p:nvSpPr>
        <p:spPr>
          <a:xfrm>
            <a:off x="2331720" y="3794760"/>
            <a:ext cx="9235440" cy="14630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1225296"/>
          </a:xfrm>
          <a:prstGeom prst="rect">
            <a:avLst/>
          </a:prstGeom>
          <a:noFill/>
        </p:spPr>
        <p:txBody>
          <a:bodyPr wrap="square" anchor="ctr">
            <a:spAutoFit/>
          </a:bodyPr>
          <a:lstStyle/>
          <a:p>
            <a:pPr algn="l">
              <a:spcAft>
                <a:spcPts val="400"/>
              </a:spcAft>
            </a:pPr>
            <a:r>
              <a:rPr sz="1200" b="0">
                <a:solidFill>
                  <a:srgbClr val="9CDCFE"/>
                </a:solidFill>
                <a:latin typeface="Arial"/>
              </a:rPr>
              <a:t>$ You are a marketing ethics and compliance advisor. I am using generative AI to create a product launch campaign (copy, images, video, ads and email) for a small brand. Give me a practical, plain-language checklist for using AI responsibly — covering accuracy and not inventing statistics, awards or claims; originality and not imitating a real competitor's identity; keeping confidential and customer data out of public tools; following the advertising rules of Meta and Google; and being transparent about AI assistance. Keep each point to one line.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Your First Copy, Images and Ideas — Responsibly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Decide Kopi Culture Co.'s position on the key questions and write a one-line answer for each: Will you publish any statistic or claim the AI produces without verifying it? (No.) Will you paste real customer data into a public AI tool? (No.) Will you imitate a real competitor's look or voice? (No.) Will you disclose AI assistance, and where? Will you check each ad against the platform's rules before it runs?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Your First Copy, Images and Ideas — Responsibly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first campaign ideas, copy draft and image, your responsible-generation checklist and the brand's decisions in your project folder. These ground rules apply to every deliverable you create for the rest of the course.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Your First Copy, Images and Ideas — Responsibly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generated a first batch of on-voice campaign ideas, a short copy draft and a starter product image and reviewed them critically, and you have a responsible-generation checklist applied to the Neighbourhood Series — covering accuracy of claims, originality, data privacy, ad-platform rules and disclosure — with a decided position on each key question, all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Getting Started with Generative AI for Marketing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Sign in to ChatGPT, Claude, Gemini, Microsoft Copilot and an AI image and video tool, run your first marketing prompts, and learn the generate–review–refine loop and where AI helps across the marketing workflow — the foundation every later lab uses.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Turn a vague marketing ask into a strong, structured prompt (role, context, task, format, constraints), and save a reusable marketing prompt library for the work you repeat on every campaign.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define a clear Kopi Culture Co. brand voice and to build the three audience personas from the brief — the foundation every later lab's content and targeting is held to — so the whole campaign sounds like one brand and speaks to real customers.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Generate a first batch of marketing copy, a starter image and campaign ideas for the Neighbourhood Series on your defined voice, and set the responsible-generation ground rules — accuracy of claims, originality, disclosure, data privacy and platform rules — that govern every later deliverable.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Content Creation with Generative 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Creating social media content · Writing ad and email copy · Generating images and videos · Maintaining brand voice and consistency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Content Creation with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Content on a defined voice — on a brand voice and personas you have already defined, AI drafts social posts, ad copy, emails, images and video scripts fast; you give it the brief and voice, generate several options, and choose and sharpen the strongest rather than accepting the first.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Social media content — AI helps you produce platform-appropriate content: scroll-stopping hooks, captions, hashtags and post concepts tuned to how each channel (Instagram, TikTok, Facebook, LinkedIn) actually works, organised into a content calendar.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Every draft is a starting point — an AI post, ad or email is a first draft, not a deliverable: you cut the clichés and filler, add the specific, true details only you know, check every claim, and make the words genuinely the brand's before they go live.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Ad copy that converts — AI generates ad headlines, primary text and description variations for Meta and Google, each built around one clear message and call to action; you produce many variants to test rather than betting on a single line.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Email that gets opened and clicked — AI drafts subject lines, preview text, launch emails and nurture sequences with a clear structure (hook, value, proof, call to action); you keep them on voice, honest and easy to act 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Generating images and video — AI image tools turn a text prompt into on-brand visuals, and AI video tools turn a script into short-form clips for Reels, TikTok and ads; a strong prompt names the subject, style, composition, lighting, palette, mood and aspect ratio, and you iterate to an on-brand result.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Content Creation with Generative AI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Honest, on-brand visuals — AI images and video can invent garbled text, fake logos, wrong products and impossible details, and can drift off-brand; you review every asset, avoid imitating a real brand's or artist's protected look, and keep one consistent style across the set.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Maintaining brand voice and consistency — a campaign works only when every piece across every channel sounds like one brand; you use AI to run a consistency pass — aligning voice, message and key wording — and to catch anything off-brand before it publishes.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Repurposing one idea into many — the efficient way to create is to make one strong core piece and have AI atomise it into a post, an ad, an email, a caption and a video script, each adapted for its channel while carrying the same message.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Content that works together — social, ad, email, image and video content are strongest when made as a set that shares one voice, one look and one message — which is exactly what your Neighbourhood Series content kit becomes.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Content Creation with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5–6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Social Media Content</a:t>
            </a:r>
          </a:p>
          <a:p>
            <a:pPr>
              <a:spcAft>
                <a:spcPts val="900"/>
              </a:spcAft>
            </a:pPr>
            <a:r>
              <a:rPr sz="1400" b="0">
                <a:solidFill>
                  <a:srgbClr val="161B26"/>
                </a:solidFill>
                <a:latin typeface="Arial"/>
              </a:rPr>
              <a:t>•  Write Ad and Email Copy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7–8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Generate On-Brand Images and Short-Form Video</a:t>
            </a:r>
          </a:p>
          <a:p>
            <a:pPr>
              <a:spcAft>
                <a:spcPts val="900"/>
              </a:spcAft>
            </a:pPr>
            <a:r>
              <a:rPr sz="1400" b="0">
                <a:solidFill>
                  <a:srgbClr val="161B26"/>
                </a:solidFill>
                <a:latin typeface="Arial"/>
              </a:rPr>
              <a:t>•  Maintain Brand Voice and Consistency Across Channels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Social Media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Social is where the launch earns attention. In this lab you use a chat assistant, on your Lab 3 voice and personas, to generate social content that fits how each platform actually works. You produce a set of post concepts for Instagram and TikTok aimed at the young-urban-coffee-lover persona, strong hooks (the first line that stops the scroll), full captions with a clear call to action, and releva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500" b="1">
                <a:solidFill>
                  <a:srgbClr val="161B26"/>
                </a:solidFill>
                <a:latin typeface="Arial"/>
              </a:rPr>
              <a:t>A set of Instagram and TikTok post concepts for the launch — each with a hook, a full on-voice caption, a call to action and hashtags — adapted per platform and organised into a first two-week content calendar,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social content, hooks and captions, hashtags, platform adaptation (Instagram, TikTok), a content calendar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Social Media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your brand voice guide and personas from Lab 3. Ask AI for a batch of social post concepts.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Using this Kopi Culture Co. voice [paste voice] and targeting young urban coffee lovers (25-38) on Instagram and TikTok, give me eight social post concepts to launch the Neighbourhood Series (four local-flavour drip-bag coffees). For each: a one-line concept, the format (Reel, carousel, single image), and which of the four coffees it features. Keep them on voice and realistic for a small brand.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Social Media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Turn the best concepts into full posts.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For three of those concepts, write the full post: a scroll-stopping first-line hook, a caption of 40-80 words in the Kopi Culture Co. voice with a clear call to action, and 8-12 relevant hashtags mixing branded, local and coffee tags. Avoid clichés like 'game-changer' and 'must-try'.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Social Media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Adapt for each platform. Paste the prompt below and compare the two versions.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Take one of those posts and give me two versions: an Instagram version (polished, aesthetic, slightly longer caption) and a TikTok version (fast, casual, punchy, hook in the first two seconds, script-style). Keep the same message and voice; change only tone, length and format.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Social Media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with a critical eye: does each hook actually earn a stop, is every caption on voice, and are the calls to action clear? Cut any cliché or claim you can't back up, and tighten the weakest caption.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Social Media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to organise the posts into a calendar.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Organise these Neighbourhood Series posts into a two-week launch content calendar for Instagram and TikTok: give me a simple table with date, platform, post concept, format, the coffee featured, and the funnel stage (awareness, consideration or conversion). Assume launch day is the start of week one.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Social Media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social post concepts, the full posts, the platform variants and the two-week content calendar in your project folder. These are the social layer of your campaign.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Social Media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set of Neighbourhood Series social posts — hooks, on-voice captions, calls to action and hashtags — with Instagram and TikTok variants, reviewed and cut for clichés, all organised into a two-week launch content calendar,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Ad and Email Copy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Ads and email are where attention turns into sales. In this lab you use a chat assistant, on your voice and personas, to write ad copy and email copy built to convert. You generate Meta ad variations (primary text, headlines and descriptions) around one clear message and call to action, and Google search ad copy (headlines and descriptions) for the launch, producing several variants to test rather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Meta and Google ad copy variations for the launch (headlines, primary text and descriptions built around one message and CTA), plus a launch email and a welcome/nurture email — each with subject-line and preview-text options — all on voice and checked against the responsible-use rules,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ad copy (Meta, Google), headline and body variations, email copy, subject lines and preview text, calls to action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Ad and Email Copy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Meta ad copy. Paste the prompt below.</a:t>
            </a:r>
          </a:p>
        </p:txBody>
      </p:sp>
      <p:sp>
        <p:nvSpPr>
          <p:cNvPr id="11" name="Rectangle 10"/>
          <p:cNvSpPr/>
          <p:nvPr/>
        </p:nvSpPr>
        <p:spPr>
          <a:xfrm>
            <a:off x="2331720" y="3794760"/>
            <a:ext cx="9235440" cy="14630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1225296"/>
          </a:xfrm>
          <a:prstGeom prst="rect">
            <a:avLst/>
          </a:prstGeom>
          <a:noFill/>
        </p:spPr>
        <p:txBody>
          <a:bodyPr wrap="square" anchor="ctr">
            <a:spAutoFit/>
          </a:bodyPr>
          <a:lstStyle/>
          <a:p>
            <a:pPr algn="l">
              <a:spcAft>
                <a:spcPts val="400"/>
              </a:spcAft>
            </a:pPr>
            <a:r>
              <a:rPr sz="1200" b="0">
                <a:solidFill>
                  <a:srgbClr val="9CDCFE"/>
                </a:solidFill>
                <a:latin typeface="Arial"/>
              </a:rPr>
              <a:t>$ You are a performance-marketing copywriter. Using this Kopi Culture Co. voice [paste voice] and targeting young urban coffee lovers, write three Meta (Instagram/Facebook) ad variations to launch the Neighbourhood Series. For each give: primary text (max 125 words), a headline (max 40 characters) and a description (max 30 characters), built around one clear message and a single call to action ('Shop the launch'). Do not invent awards, ratings or claims.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Ad and Email Copy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Google search ad copy.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Write Google search ad copy for the Neighbourhood Series launch: give me five headlines (max 30 characters each) and three descriptions (max 90 characters each) that I can mix and match, focused on local-flavour specialty drip-bag coffee and a clear call to action. Keep it on voice and truthful.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Ad and Email Copy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the launch email.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Write a launch email for the Neighbourhood Series in the Kopi Culture Co. voice for our subscriber list: a compelling subject line (plus two alternates) and preview text, then a short email with a hook, the story of the four neighbourhood-inspired coffees, and one clear call to action to shop the launch. Keep it under 200 words, warm and characterful, no invented claims.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Ad and Email Copy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a welcome/nurture email for new subscribers.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Write a short welcome email for someone who just subscribed to The KCC Club (our monthly coffee subscription): subject line plus preview text, a warm on-voice welcome, what to expect each month, and one gentle call to action to complete their first order or profile. Under 150 words.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Ad and Email Copy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every piece against the voice and the responsible-use rules from Lab 4: is each ad within the character limits, is every claim truthful, is each CTA single and clear, and do the subject lines earn the open without clickbait? Fix the weakest variant of each.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Ad and Email Copy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Meta and Google ad variations, the launch email and the welcome email (with subject-line options) in your project folder. These are the paid and email layers of your campaign.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Ad and Email Copy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Meta and Google ad copy variations within their character limits, a launch email and a welcome/nurture email each with subject-line and preview-text options, all on voice, with single clear calls to action and no invented claims, reviewed against the responsible-use rules and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On-Brand Images and Short-Form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Content needs to be seen, not just read. In this lab you use an AI image tool and an AI video tool to produce the campaign's visuals on one consistent look. You first generate a small moodboard to set the visual direction (warm natural light, modern Singapore café aesthetic, local textures), then write strong image prompts — naming subject, style, composition, lighting, palette, mood and aspect ra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A small visual moodboard, an on-brand hero product image and a lifestyle image (each with its prompt), and a short-form video script with a draft AI-generated clip for Reels or TikTok — all reviewed for brand fit and honesty,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AI image tool (DALL·E, Firefly, Designer, Gemini, Canva), AI video tool (Canva, Gemini/Veo, text-to-video), image prompting, moodboards, short-form video scripting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On-Brand Images and Short-Form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the visual direction with a moodboard. Paste the prompt below into your AI image tool and generate a few reference frames.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A moodboard of four reference images for a Singapore specialty-coffee brand launch: warm natural light, marble and light-wood café surfaces, modern minimal styling, subtle local textures (peranakan tile, kopitiam marble), earthy warm palette, calm editorial feel. No text, no logos.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On-Brand Images and Short-Form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the hero product image with a full prompt. Paste the prompt below and review it.</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A premium giftable box of four drip-bag coffee sachets on a marble café table, warm morning light from the left, a cup of black coffee and a few coffee beans beside it, modern minimal Singapore café aesthetic, earthy warm palette, shallow depth of field, product photography, 1:1 square, no text and no logos.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On-Brand Images and Short-Form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a lifestyle image and iterate one element at a time. Paste the prompt below, then change only one thing (lighting, or palette, or angle) and regenerate to learn what each word does.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A young person in a bright modern Singapore apartment brewing a drip-bag coffee over a mug by a window, relaxed weekend morning mood, warm natural light, earthy palette, candid lifestyle photography, 4:5 portrait, no text and no logos.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On-Brand Images and Short-Form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a short-form video script.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Write a 20-second short-form video script (for a Reel or TikTok) to launch the Neighbourhood Series in the Kopi Culture Co. voice: a hook in the first two seconds, three quick beats introducing the four neighbourhood-inspired coffees, and a call to action. Give me the on-screen text, the voiceover/caption line for each beat, and a shot suggestion. Keep it fast and characterful.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On-Brand Images and Short-Form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Assemble a draft clip. In your AI video tool (Canva, Gemini/Veo or a text-to-video generator), use the script and your images to generate or assemble a rough 15-20 second clip in 9:16. It is a draft to feel the tool, not a finished ad.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On-Brand Images and Short-Form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every visual asset: is it on brand and consistent with the moodboard, does the image have garbled text, a fake logo or a wrong product, and does the video read clearly with sound off? Regenerate anything off-brand and add real text on the slide/clip rather than trusting AI-rendered text.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On-Brand Images and Short-Form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moodboard, hero and lifestyle images (with their prompts), the video script and the draft clip in your project folder. These are the visual layer of your campaign.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On-Brand Images and Short-Form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moodboard, an on-brand hero product image and a lifestyle image (each with its prompt), and a short-form video script with a draft 9:16 clip — all reviewed and consistent with the visual direction, free of garbled text and fake logos —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Maintain Brand Voice and Consistency Across 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A campaign works only when every piece feels like the same brand. In this lab you consolidate the content from Labs 5-7 and use AI to enforce consistency. You give the AI your voice guide and paste in your social captions, ad copy and emails, and ask it to flag anything off-voice, off-message or inconsistent in key wording, then rewrite the flagged pieces back on voice.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A brand-consistency report on your campaign content with the flagged pieces rewritten back on voice, plus one core piece repurposed into an Instagram caption, a TikTok script, a Meta ad, an email teaser and a LinkedIn post — a repeatable one-to-many repurposing workflow —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brand-consistency pass, voice alignment, content repurposing (one-to-many), channel adaptation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Maintain Brand Voice and Consistency Across 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Gather your content from Labs 5-7 (social captions, ad copy, emails) into one document. Run a consistency pass with AI. Paste the prompt below along with your voice guide and the content.</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Here is my Kopi Culture Co. brand voice guide [paste] and a set of campaign content — social captions, ad copy and emails [paste]. Review all of it for consistency: flag anything that is off-voice, off-message, or uses different wording for the same thing (product names, the call to action, key phrases). Give me a short list of issues and the fix for each.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Maintain Brand Voice and Consistency Across 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Rewrite the flagged pieces.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Rewrite the pieces you flagged so they are fully on the Kopi Culture Co. voice and use consistent product names and a consistent call to action, keeping each piece's original purpose and channel. Show the before and after for each.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Maintain Brand Voice and Consistency Across 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shared elements are locked: the four coffee names, the campaign name (Neighbourhood Series), the subscription name (The KCC Club) and the primary call to action are written the same way everywhere. Note any you standardised.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Maintain Brand Voice and Consistency Across 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Now practise repurposing. Take your launch announcement as the core piece and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Here is one core piece of content — our Neighbourhood Series launch announcement [paste]. Repurpose it into five channel-specific pieces that all carry the same message and voice: (1) an Instagram caption, (2) a TikTok script, (3) a Meta ad primary text, (4) a one-line email teaser, and (5) a short LinkedIn post. Adapt tone, length and format for each channel; keep the message and the call to action consistent.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Maintain Brand Voice and Consistency Across 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repurposed set: does every piece carry the same core message and call to action while fitting its channel? Fix any that drifted, then note the repurposing prompt as a reusable workflow (one core piece in, five channel pieces out).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Maintain Brand Voice and Consistency Across 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consistency report, the rewritten pieces and the repurposed one-to-many set (plus the reusable repurposing prompt) in your project folder. Your Day 1 content kit is now aligned and ready to plan and optimise on Day 2.</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Maintain Brand Voice and Consistency Across Channels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brand-consistency report with the flagged content rewritten back on voice and shared elements (coffee names, campaign name, subscription name, primary CTA) standardised, plus one core piece repurposed into five consistent channel-specific pieces and saved as a reusable repurposing workflow — all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Content Creation with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create platform-appropriate social media content for the Neighbourhood Series — scroll-stopping hooks, captions, hashtags and post concepts for Instagram and TikTok — organised into a first content calendar.</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write conversion-focused ad copy (Meta and Google) and launch and nurture emails for the Neighbourhood Series — headline and body variations, subject lines and clear calls to action — on the brand voice.</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image and video tools to generate on-brand visuals for the Neighbourhood Series — a moodboard, hero and lifestyle product images, and a short-form video script and clip for Reels or TikTok — with effective prompts.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Run an AI brand-consistency pass across everything created so far, and repurpose one core piece of content into every channel — so the whole Neighbourhood Series campaign sounds like one brand and carries one message.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Campaign Planning and Optimisation with 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Researching audiences and keywords · Planning multi-channel campaigns · Personalising and scaling content · A/B testing and optimisation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Campaign Planning and Optimisation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Research before you create — good marketing starts with understanding the audience and the search landscape; AI accelerates audience research and keyword research so your plan is grounded in real customer language and intent, not guesswork.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Researching audiences with AI — you use AI to deepen your personas: their goals, pain points, objections, the channels they use and the words they use, so every message speaks to a real person rather than 'everyone'.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Keyword research with AI — AI helps you generate seed keywords, cluster them by theme and search intent (informational, commercial, transactional), and map them to content for SEO and to ad groups for paid search — you then verify volume and competition in a real tool.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Planning a multi-channel campaign — a campaign is a plan, not a pile of posts; AI helps you set objectives, map content to the funnel (awareness, consideration, conversion, retention), choose the channel mix, and build a realistic timeline and calendar.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marketing funnel — you match the message to the stage: awareness content earns attention, consideration content builds trust, conversion content drives the sale, and retention content keeps the customer; AI helps you plan content for each stage.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Budget-aware planning — AI helps you favour high-leverage, small-budget moves (organic social, email, SEO, small partnerships) over big-spend media, so the plan is one a real small brand can actually run.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Campaign Planning and Optimisation with AI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Personalising content — one core message becomes many tailored versions; AI adapts tone, framing, offer and channel for each persona and segment while keeping the message and voice consistent, so each customer gets a relevant message.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Scaling content without losing the voice — AI lets you produce variants at volume — many ad versions, segmented emails, localised captions — quickly; the discipline is holding every variant to the brand voice and quality bar, not just producing more.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A/B testing with AI — you improve by testing: AI helps you form a clear hypothesis, generate the competing variants (subject lines, headlines, creatives, CTAs), and define the single metric that decides the winner, so you learn what actually works.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Optimising with the results — you read the test outcome, keep the winner, and feed the learning back into the next round; AI helps you interpret the result and suggest the next variant, turning marketing into a continuous improvement loop.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Campaign Planning and Optimisation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9–10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Research Audiences and Keywords</a:t>
            </a:r>
          </a:p>
          <a:p>
            <a:pPr>
              <a:spcAft>
                <a:spcPts val="900"/>
              </a:spcAft>
            </a:pPr>
            <a:r>
              <a:rPr sz="1400" b="0">
                <a:solidFill>
                  <a:srgbClr val="161B26"/>
                </a:solidFill>
                <a:latin typeface="Arial"/>
              </a:rPr>
              <a:t>•  Plan a Multi-Channel Campaign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11–12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Personalise and Scale Content</a:t>
            </a:r>
          </a:p>
          <a:p>
            <a:pPr>
              <a:spcAft>
                <a:spcPts val="900"/>
              </a:spcAft>
            </a:pPr>
            <a:r>
              <a:rPr sz="1400" b="0">
                <a:solidFill>
                  <a:srgbClr val="161B26"/>
                </a:solidFill>
                <a:latin typeface="Arial"/>
              </a:rPr>
              <a:t>•  A/B Test and Optimise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Research Audiences and Keywords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Good marketing is built on research, not guesses. In this lab you use a chat assistant to sharpen your understanding of the audience and the search landscape. You take your three personas from Lab 3 and deepen them — goals, pain points, objections, the moments they buy coffee, the channels they use and the exact words they use — so your messaging speaks to real people.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Deepened audience research for the three personas (goals, pain points, objections, buying moments, channels and language) and a keyword map — seed keywords clustered by theme and search intent, mapped to SEO content and paid ad groups —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audience research, pain points and objections, keyword research, keyword clustering, search intent, SEO and paid mapping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Research Audiences and Keywords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Deepen your personas. Paste the prompt below along with your three personas from Lab 3.</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Here are my three Neighbourhood Series personas [paste]. For each, deepen the research: their goals when buying coffee, their top three pain points, the objections that stop them buying, the specific moments they buy or gift coffee, the channels where they discover brands, and ten exact words or phrases they use about coffee. Keep it concrete and realistic for Singapore.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Research Audiences and Keywords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Identify objections to handle in the campaign.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Based on those personas, list the five most likely objections to buying premium local-flavour drip-bag coffee (for example price, 'is drip-bag as good as fresh', gifting doubt) and, for each, one honest, on-voice message that addresses it without overclaiming.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Research Audiences and Keywords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seed keywords.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Generate a list of 30 seed keywords a Singapore specialty-coffee brand could target for the Neighbourhood Series launch, covering specialty coffee, drip-bag coffee, local-flavour coffee (gula melaka, kaya, teh tarik, pandan), coffee subscription and coffee gifting. Mix short head terms and longer specific phrases.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Research Audiences and Keywords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Cluster the keywords by theme and intent.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Cluster those keywords into 5-7 themes, and label each keyword's likely search intent (informational, commercial or transactional). Then, in a simple table, map each cluster to: a content idea for SEO (a blog or landing page), and an ad group for paid search. Note which clusters are best for organic vs paid.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Research Audiences and Keywords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Sanity-check and verify: note in one line that the search volumes and competition are estimates you will confirm in a real keyword tool (Google Keyword Planner or similar), and flag any keyword that feels off for Singapore or the brand.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Research Audiences and Keywords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deepened personas, the objection-handling messages, and the clustered keyword map (with SEO and paid mapping) in your project folder. This research grounds the campaign plan in Lab 10.</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Research Audiences and Keywords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deepened audience research for all three personas (with buying moments, channels, exact language and handled objections) and a keyword map — 30+ seed keywords clustered into themes, labelled by search intent and mapped to SEO content and paid ad groups, with a note to verify volumes —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Plan a Multi-Channel Campaign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A campaign is a plan, not a pile of posts. In this lab you use a chat assistant to assemble everything so far — voice, personas, keyword research and the Day 1 content kit — into one coherent multi-channel plan. You set clear objectives and a headline metric, then map content to the marketing funnel: awareness (organic social, short-form video), consideration (SEO content, email, retargeting), con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A complete multi-channel campaign plan for the Neighbourhood Series — objectives and headline metric, a funnel map (awareness, consideration, conversion, retention) with content and channels per stage, a budget-aware channel mix, and a week-by-week launch timeline and calendar —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campaign planning, marketing funnel, channel mix, content mapping, budget-aware planning, timeline and calendar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Plan a Multi-Channel Campaign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the objectives.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You are a marketing strategist. For the Kopi Culture Co. Neighbourhood Series launch (four local-flavour drip-bag coffees plus The KCC Club subscription, small-brand budget, year-end season, personas: young urban coffee lovers, busy WFH professionals, gift shoppers), define: one primary objective, two supporting objectives, and one headline metric to judge success. Keep them specific and realistic.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Plan a Multi-Channel Campaign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Map content to the funnel.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Map the Neighbourhood Series campaign to the marketing funnel. For each stage — awareness, consideration, conversion, retention — give: the goal, the best channels, the content types (I already have social posts, ads, emails, images and a video), and the persona focus. Present it as a table.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Plan a Multi-Channel Campaign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Choose and weight the channel mix.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Recommend a channel mix for a small-brand budget across organic Instagram and TikTok, SEO/blog, email, a modest Meta ads budget and a small Google search budget. Suggest a rough percentage of effort/budget per channel, favouring high-leverage low-cost channels, and justify each in one line. Flag anything I should not spend on yet.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Plan a Multi-Channel Campaign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Build the timeline and calendar.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Build a four-week launch timeline for the Neighbourhood Series: a week-by-week plan (pre-launch teaser, launch week, sustain, gifting push) showing what publishes on which channel and which funnel stage it serves, tying in my existing content calendar. Present it as a simple week-by-week table.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Plan a Multi-Channel Campaign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plan against reality: is every stage covered, does the budget favour low-cost high-leverage channels, and is the timeline achievable for a small team? Adjust anything unrealistic and note the one thing most likely to drive results.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Plan a Multi-Channel Campaign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objectives, funnel map, channel mix and launch timeline/calendar as the Neighbourhood Series campaign plan in your project folder. Labs 11 and 12 personalise, scale and optimise this plan.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Plan a Multi-Channel Campaign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complete multi-channel campaign plan — objectives and a headline metric, a funnel map with content and channels per stage, a budget-aware channel mix with rough weighting, and a week-by-week launch timeline and calendar tied to your content —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Personalise and Scale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One message rarely fits every customer. In this lab you use a chat assistant to tailor the campaign to each persona and then to scale that tailoring efficiently. You take one core offer and personalise it three ways — for young urban coffee lovers, busy WFH professionals and gift shoppers — changing the framing, the benefit and the call to action while keeping the message and voice consistent.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The core offer personalised for all three personas, plus scaled on-brand variants — a segmented email per persona, a per-audience ad set, and caption variants — with a simple segment-to-variant mapping, all held to the brand voice,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personalisation, segmentation, content variants at scale, message consistency, voice control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Personalise and Scale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Personalise the core offer three ways.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Here is one core offer for the Neighbourhood Series launch [paste your launch message and offer]. Personalise it for each of my three personas — young urban coffee lovers, busy WFH professionals, and gift shoppers — changing the framing, the main benefit emphasised, and the call to action for each, while keeping the same core message and the Kopi Culture Co. voice. Show the three versions side by side.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Personalise and Scale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Scale to segmented emails.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Write a launch email variant for each of the three personas: same offer and voice, but a persona-specific subject line, opening hook and main benefit. Keep each under 160 words with one clear call to action. Note in one line what changed for each segment.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Personalise and Scale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Scale to a per-audience ad set.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Create a Meta ad set with one ad per persona for the launch: same offer and single call to action, but a persona-specific hook and primary text (max 100 words each). Give the three ads and a one-line audience-targeting note for each (interests/behaviours that match that persona).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Personalise and Scale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caption variants at scale, then hold the line on voice.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Give me six on-voice caption variants for the launch that I can rotate across social posts — vary the angle (origin story, gifting, convenience, flavour, subscription value, local pride) but keep the same voice, message and call to action. Then check all six against this voice guide [paste] and flag any that drifted.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Personalise and Scale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Define the routing rule and review: write a simple mapping of which variant goes to which segment/channel, and confirm every scaled variant is on voice, truthful and non-repetitive. Cut or fix any weak or off-voice variant — scale should raise relevance, not noise.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Personalise and Scale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personalised core offer, the segmented emails, the per-audience ad set, the caption variants and the segment-to-variant mapping in your project folder. This personalised, scaled content feeds the A/B tests in Lab 12.</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Personalise and Scale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the core offer personalised for all three personas and scaled on-brand variants — a segmented email per persona, a per-audience ad set with targeting notes, and six checked caption variants — plus a simple segment-to-variant mapping, all held to the brand voice and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 Test and Optimise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You improve marketing by testing, not guessing. In this lab you use a chat assistant to turn your content into structured experiments. You pick the highest-leverage elements to test — an email subject line, an ad headline, a social hook and a call to action — and for each you write a clear hypothesis, define the single metric that decides the winner (open rate, click-through rate, conversion), and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500" b="1">
                <a:solidFill>
                  <a:srgbClr val="161B26"/>
                </a:solidFill>
                <a:latin typeface="Arial"/>
              </a:rPr>
              <a:t>A/B test designs for the campaign's key elements — each with a hypothesis, the deciding metric and two variants — plus a worked interpretation of a sample subject-line test result and the next optimisation to try,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A/B testing, hypotheses, test metrics, variant generation, interpreting results, optimisation loop</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 Test and Optimise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Choose what to test and why.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For the Neighbourhood Series launch, recommend the four highest-leverage elements to A/B test first (across email, ads and social) for a small brand, and for each explain in one line why testing it is worth the effort and which single metric should decide the winner.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 Test and Optimise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Design the tests with hypotheses.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For each of these four elements — an email subject line, a Meta ad headline, a social hook, and a call-to-action button label — write an A/B test: a one-sentence hypothesis ('If we ... then ... because ...'), the deciding metric, and two meaningfully different variants A and B (not just reworded). Keep everything on the Kopi Culture Co. voice.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 Test and Optimise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Interpret a sample result. Paste the prompt below with the example numbers.</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Here are results from my subject-line A/B test. Variant A: sent 1,000, opens 220 (22%). Variant B: sent 1,000, opens 265 (26.5%). Click-throughs: A 40, B 38. Which subject line won on the deciding metric (open rate), is the difference meaningful for this sample size, and what does the click-through difference suggest I should test next? Explain simply.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 Test and Optimise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Decide and plan the next round.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Based on that result, recommend the next single test to run to improve clicks (not just opens), with a hypothesis, the metric, and two variants. Explain why changing one element at a time matters for learning.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 Test and Optimise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and record the discipline: confirm each test changes only one element, has one deciding metric, and keeps the winner; note that real significance needs adequate sample size and that you verify numbers before acting. Write your testing rule in one line.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 Test and Optimise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A/B test designs, the worked interpretation and your next-round plan in your project folder. This optimisation habit carries into the analytics work in Lab 13.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 Test and Optimise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A/B test designs for four key elements (each with a hypothesis, deciding metric and two distinct variants), a correct interpretation of the sample subject-line test (Variant B won on open rate), a next-round test to improve clicks, and your one-line testing rule — all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Campaign Planning and Optimisation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deepen the Neighbourhood Series audience research and to build keyword clusters for SEO and paid search — grounding the campaign in real customer language and search intent before you plan.</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turn the research and content into a complete multi-channel campaign plan for the Neighbourhood Series — objectives, funnel stages, channel mix, content map and a realistic, budget-aware timeline and calendar.</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personalise the campaign message for each persona and segment, and to produce on-brand variants at scale — segmented emails, per-audience ad sets and localised captions — without losing the brand voice.</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design and run A/B tests on the campaign's key elements — subject lines, ad headlines, hooks and CTAs — with clear hypotheses and metrics, then interpret the results and optimise with the winners.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Analytics and Workflow with 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Analysing marketing performance with AI · Automating marketing workflows · Reporting and insights · Building your AI marketing playbook</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Analytics and Workflow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From activity to results — the point of marketing is outcomes, not output; AI helps you close the loop by reading performance data, explaining what happened, and pointing to the next action, so effort turns into learning.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Analysing performance with AI — you paste campaign metrics (impressions, click-through rate, cost per click, cost per acquisition, conversion rate, email opens and clicks, engagement) and AI helps you spot the story in the numbers, flag underperformers and surface what to do next — you keep judgement over the final call.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Ask the right questions of your data — AI analysis is only as good as your question; you learn to ask focused questions ('which channel has the best cost per acquisition and why', 'what is dragging conversion') so the answer is actionable, not a generic summary.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Verify before you act — AI can misread a table or invent a trend, so you sanity-check its numbers against the source, never paste confidential or personally identifiable customer data into a public tool, and treat its analysis as a fast first read you confirm.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Automating marketing workflows — much marketing work is repetitive (repurposing content, drafting variants, summarising reports, answering FAQs); AI plus automation tools (a custom GPT or project, Zapier, Make, Copilot) can turn a repeated task into a reliable, repeatable workflow.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Designing a safe automation — a good automation has a clear trigger, defined steps, a human review point before anything publishes, and a check on quality and brand voice; you design the guardrails, not just the speed.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Analytics and Workflow with AI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Reporting and insights — a report is not a data dump; AI helps you turn the numbers into a short, clear story for stakeholders — what happened, why, what it means, and what you recommend next — in plain language.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Insight, not just numbers — the value of a report is the insight and the recommendation; you use AI to draft the narrative and the next steps, then apply your judgement so the recommendation is sound and specific.</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Building your AI marketing playbook — the lasting output is a reusable playbook: your tools, prompt library, brand voice and personas, channel playbooks, campaign plan, automations and reporting cadence, assembled so you (and your team) can run the next campaign faster.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You are the marketer — across every technique, AI generates, drafts and analyses, but you set the strategy, judge the options, protect the brand and the customer's trust, and make the final call; the tools amplify your marketing, they do not replace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Analytics and Workflow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13–14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Analyse Marketing Performance with AI</a:t>
            </a:r>
          </a:p>
          <a:p>
            <a:pPr>
              <a:spcAft>
                <a:spcPts val="900"/>
              </a:spcAft>
            </a:pPr>
            <a:r>
              <a:rPr sz="1400" b="0">
                <a:solidFill>
                  <a:srgbClr val="161B26"/>
                </a:solidFill>
                <a:latin typeface="Arial"/>
              </a:rPr>
              <a:t>•  Automate a Marketing Workflow</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15–16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Reporting and Insights</a:t>
            </a:r>
          </a:p>
          <a:p>
            <a:pPr>
              <a:spcAft>
                <a:spcPts val="900"/>
              </a:spcAft>
            </a:pPr>
            <a:r>
              <a:rPr sz="1400" b="0">
                <a:solidFill>
                  <a:srgbClr val="161B26"/>
                </a:solidFill>
                <a:latin typeface="Arial"/>
              </a:rPr>
              <a:t>•  Build Your AI Marketing Playbook</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Marketing Performance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The point of marketing is results, so you close the loop by reading the numbers. In this lab you use a chat assistant to analyse a realistic set of campaign metrics. You paste in a small sample results table (impressions, click-through rate, cost per click, cost per acquisition, conversion rate, and email open and click rates across channels) and ask AI focused questions — which channel has the be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An AI-assisted performance analysis of the sample campaign metrics — the key reads, a diagnosis of the biggest underperformer and why, and two or three specific, data-tied next actions — with the numbers verified against the source,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performance analysis, marketing metrics (CTR, CPC, CPA, conversion, open/click rate), diagnosing underperformance, data privacy, verification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Marketing Performance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Prepare a sample metrics table (use the one below or your own non-confidential sample) and ask AI to read it. Paste the prompt and the data.</a:t>
            </a:r>
          </a:p>
        </p:txBody>
      </p:sp>
      <p:sp>
        <p:nvSpPr>
          <p:cNvPr id="11" name="Rectangle 10"/>
          <p:cNvSpPr/>
          <p:nvPr/>
        </p:nvSpPr>
        <p:spPr>
          <a:xfrm>
            <a:off x="2331720" y="3794760"/>
            <a:ext cx="9235440" cy="14630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1225296"/>
          </a:xfrm>
          <a:prstGeom prst="rect">
            <a:avLst/>
          </a:prstGeom>
          <a:noFill/>
        </p:spPr>
        <p:txBody>
          <a:bodyPr wrap="square" anchor="ctr">
            <a:spAutoFit/>
          </a:bodyPr>
          <a:lstStyle/>
          <a:p>
            <a:pPr algn="l">
              <a:spcAft>
                <a:spcPts val="400"/>
              </a:spcAft>
            </a:pPr>
            <a:r>
              <a:rPr sz="1200" b="0">
                <a:solidFill>
                  <a:srgbClr val="9CDCFE"/>
                </a:solidFill>
                <a:latin typeface="Arial"/>
              </a:rPr>
              <a:t>$ Analyse these Neighbourhood Series launch results and tell me the three most important things they show. Data — Instagram: 40,000 impressions, CTR 1.8%, conversion 2.1%. TikTok: 60,000 impressions, CTR 1.2%, conversion 1.0%. Meta ads: spend $600, CPC $0.45, CPA $18, conversion 2.4%. Google ads: spend $400, CPC $0.90, CPA $30, conversion 1.6%. Launch email: sent 2,000, open 26%, click 4.5%, conversion 3.2%. Which channel is most and least efficient?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Marketing Performance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focused diagnostic questions.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From that data: which channel has the best cost per acquisition and which the worst, and why might that be? What is most likely dragging TikTok's conversion despite its reach? Where is ad budget being spent least efficiently? Give me a short, specific answer for each, not a generic summary.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Marketing Performance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Get specific, data-tied next actions.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Based only on this data, recommend three specific next actions to improve overall cost per acquisition and conversion in the next two weeks — for example shifting budget, changing a channel's creative or CTA, or pausing something. Tie each recommendation to the number that justifies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Marketing Performance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before you trust: check AI's reading against the source numbers — does its 'best CPA' match the table, has it invented any figure or trend? Correct anything wrong and note in one line that email and Meta are the efficient channels here.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Marketing Performance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Note the data-privacy rule: you used only sample data; you will never paste real customer lists, personally identifiable data or confidential revenue into a public AI tool, and you anonymise or aggregate before any AI analysis.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Marketing Performance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verified performance analysis, the diagnosis and the three data-tied next actions in your project folder. These insights feed the report in Lab 15.</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Marketing Performance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an AI-assisted analysis of the sample metrics with the key reads verified against the source (email and Meta are the efficient channels, Google the least), a specific diagnosis of the biggest issue, and two or three data-tied next actions, plus a noted data-privacy rule — all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 Marketing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Much marketing work is repetitive, and that is exactly what AI plus automation can take off your plate. In this lab you map the repeatable tasks in the Neighbourhood Series workflow (repurposing a blog into social posts, drafting weekly captions, summarising performance, answering common customer questions) and choose one to automate.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An automation blueprint for one repetitive marketing task — trigger, step-by-step flow, the core AI prompt, a human review point and a brand-voice/accuracy check — plus a note on how to build it (custom GPT/project or Zapier/Make),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custom GPT / project, Zapier / Make, workflow automation, prompt chaining, human-in-the-loop guardrails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 Marketing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Map the repetitive tasks and pick one.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For a small brand running the Neighbourhood Series campaign, list the marketing tasks that are repetitive enough to automate with AI (for example repurposing content, drafting weekly captions, summarising weekly performance, answering common customer FAQs). Rank them by how much time they save versus how risky they are to automate, and recommend the best first one to automate.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 Marketing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Design the automation as a blueprint. Paste the prompt below (using the task you chose — here, repurposing a blog post into a week of social content).</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Design a step-by-step AI automation for this task: turn one new blog post into a week of on-brand social posts for Instagram and TikTok. Give me: the trigger that starts it, each step in order, the core AI prompt it would use (with slots), where a human must review before anything is scheduled, and how it checks the output is on brand and accurate. Present it as a numbered workflow.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 Marketing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the guardrails.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For that automation, list the guardrails a small brand should put in place so it stays safe: what should never be auto-published without review, how to keep brand voice consistent, how to avoid inaccurate claims, and what customer data must never enter the tool. Keep each to one line.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 Marketing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Note how to build it: in one line each, describe how you could implement this as (a) a custom GPT or Claude Project with saved instructions and your voice guide, and (b) a no-code automation in Zapier or Make that calls an AI step — and which suits a small brand starting out.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 Marketing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blueprint: does it have a clear trigger, a human review point before publishing, and a brand/accuracy check? Confirm no step auto-publishes unreviewed content or handles confidential customer data. Tighten any weak guardrail.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 Marketing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automation blueprint, guardrails and build notes in your project folder. This is the workflow-automation layer of your playbook.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Automate a Marketing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an automation blueprint for one repetitive marketing task with a clear trigger, ordered steps, the core AI prompt, a human review point before publishing and a brand-voice/accuracy check, plus guardrails and a note on building it as a custom GPT/project or in Zapier/Make — all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Reporting and Insights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A report is a story for a decision-maker, not a data dump. In this lab you use a chat assistant to turn your Lab 13 analysis into a concise stakeholder report. You give the AI the verified numbers and the diagnosis and ask it to draft a one-page report with a clear structure: an executive summary, the headline results, what the numbers mean, and specific recommended next steps — all in plain langu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A one-page Neighbourhood Series stakeholder report — executive summary, headline results, what they mean, and recommended next steps — plus the single lead insight and recommendation, saved as a reusable monthly reporting template with its prompt,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reporting, executive summary, turning data into narrative, insights and recommendations, a reusable report template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Reporting and Insights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Draft the one-page report. Paste the prompt below with your verified analysis from Lab 13.</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You are a marketing analyst writing for a busy business owner. Using this verified analysis of the Neighbourhood Series launch [paste your Lab 13 numbers and diagnosis], write a clear one-page report with: (1) a three-sentence executive summary, (2) the headline results by channel, (3) what the numbers mean in plain language, and (4) three specific recommended next steps. Avoid jargon; make it easy to act 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Reporting and Insights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Sharpen to the single insight.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From that report, what is the single most important insight, and the one recommendation I should lead with in a meeting? State each in one sentence, and explain in one line why it matters most.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Reporting and Insights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Pressure-test the recommendations with your judgement.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Review your three recommendations: for each, is it specific, realistic for a small brand, and clearly justified by the data? Rewrite any that is vague or generic into a concrete action with an expected effect. Do not recommend anything the data does not support.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Reporting and Insights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Apply your own read: adjust the report so the lead insight and recommendation match what you actually saw in Lab 13 (email and Meta efficient, Google least efficient, TikTok reach not converting). Make sure nothing overclaims.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Reporting and Insights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Turn it into a reusable template.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Turn this report structure into a reusable monthly marketing report template with clearly labelled sections and placeholders for the metrics, and give me the single prompt I can paste each month (with slots for the new data) to generate the report in this format and voice.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Reporting and Insights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one-page report, the lead insight and recommendation, and the reusable reporting template (with its prompt) in your project folder. This is the reporting layer of your playbook.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Reporting and Insights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clear one-page stakeholder report (executive summary, headline results, meaning and three specific, data-justified recommendations), the single lead insight and recommendation, and a reusable monthly reporting template with its prompt — all matching your verified analysis and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Your AI Marketing Playbook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This capstone brings the whole course together. You use a chat assistant to assemble every piece you have built — your AI toolkit and prompt library, the brand voice and personas, the content kit, the keyword research, the campaign plan, the personalised and tested content, the performance analysis, the automation blueprint and the reporting template — into one structured AI Marketing Playbook: a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A complete, structured AI Marketing Playbook assembling every course deliverable (toolkit, prompt library, voice and personas, content kit, research, plan, tested content, analytics, automation, reporting) with a 'how to use this' intro and an optimisation cadence, plus a short rehearsed presentation of the Neighbourhood Series campaign.</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assembling a playbook, knowledge structuring, optimisation cadence, presentation structuring, pitch rehearsal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Your AI Marketing Playbook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Outline the playbook. Paste the prompt below.</a:t>
            </a:r>
          </a:p>
        </p:txBody>
      </p:sp>
      <p:sp>
        <p:nvSpPr>
          <p:cNvPr id="11" name="Rectangle 10"/>
          <p:cNvSpPr/>
          <p:nvPr/>
        </p:nvSpPr>
        <p:spPr>
          <a:xfrm>
            <a:off x="2331720" y="3794760"/>
            <a:ext cx="9235440" cy="14630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1225296"/>
          </a:xfrm>
          <a:prstGeom prst="rect">
            <a:avLst/>
          </a:prstGeom>
          <a:noFill/>
        </p:spPr>
        <p:txBody>
          <a:bodyPr wrap="square" anchor="ctr">
            <a:spAutoFit/>
          </a:bodyPr>
          <a:lstStyle/>
          <a:p>
            <a:pPr algn="l">
              <a:spcAft>
                <a:spcPts val="400"/>
              </a:spcAft>
            </a:pPr>
            <a:r>
              <a:rPr sz="1200" b="0">
                <a:solidFill>
                  <a:srgbClr val="9CDCFE"/>
                </a:solidFill>
                <a:latin typeface="Arial"/>
              </a:rPr>
              <a:t>$ You are helping me assemble an AI Marketing Playbook from a full course project. I have: an AI toolkit and prompt library, a brand voice guide and three personas, a multi-channel content kit (social, ads, email, images, video), keyword research, a multi-channel campaign plan, personalised and A/B-tested content, a performance analysis, an automation blueprint and a reporting template. Give me a clear, logical structure (sections and sub-sections) for a reusable playbook that lets me or a teammate run the next campaign faster.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Your AI Marketing Playbook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the 'how to use this' introduction and cadence.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Write a short introduction (under 150 words) for my AI Marketing Playbook that explains what it is and how to use it for the next campaign, and propose a simple monthly reporting-and-optimisation cadence (what to review, what to test, what to report) that fits a small brand.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Your AI Marketing Playbook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Assemble the playbook: gather your saved deliverables into the structure from Step 1, drop in the intro and cadence, and confirm each section points to the actual prompt or asset you created. Note any gap to fill later.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Your AI Marketing Playbook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Structure the campaign presentation.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Help me present the Neighbourhood Series campaign in five minutes. Give me a slide-by-slide outline: the brand and the opportunity, the audience and insight, the campaign idea and plan, the content (with the hero visual and video), and the early results and next steps. For each slide, one line on what I say. Keep it on the Kopi Culture Co. voice.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Your AI Marketing Playbook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Rehearse and anticipate questions. Paste the prompt below, then practise the pitch aloud once.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List the five questions a business owner is most likely to ask about this campaign (budget, expected return, why these channels, why AI, what's next) and give me a concise, honest one-line answer to each, grounded in my plan and results.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Your AI Marketing Playbook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and finalise: confirm the playbook is complete and reusable, the presentation tells a clear story, and nothing overclaims. Save the finished AI Marketing Playbook and the presentation outline in your project folder — the campaign the course set out to build is done.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Your AI Marketing Playbook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complete, structured AI Marketing Playbook that assembles every course deliverable with a 'how to use this' intro and an optimisation cadence, plus a five-minute campaign presentation outline and prepared answers to the likely questions — rehearsed once and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Analytics and Workflow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analyse sample Neighbourhood Series campaign metrics — read the key numbers, diagnose what is underperforming and why, and decide the next action — while verifying the analysis and protecting data privacy.</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identify a repetitive marketing task and design a practical, repeatable automation for it — with a clear trigger, steps, a human review point and a brand-voice check — that your team could actually run.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turn the campaign data into a clear, one-page stakeholder report — what happened, why, what it means and what you recommend next — in plain language, and save it as a reusable reporting template.</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Assemble everything from the course into one reusable AI Marketing Playbook for the Neighbourhood Series and beyond, then structure and rehearse a short presentation of the campaign — the capstone deliverable.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AI marketing toolkit</a:t>
            </a:r>
          </a:p>
          <a:p>
            <a:pPr algn="l">
              <a:spcAft>
                <a:spcPts val="300"/>
              </a:spcAft>
            </a:pPr>
            <a:r>
              <a:rPr sz="1300" b="0">
                <a:solidFill>
                  <a:srgbClr val="5B6372"/>
                </a:solidFill>
                <a:latin typeface="Arial"/>
              </a:rPr>
              <a:t>Explain how generative AI supports digital marketing, and set up an AI marketing toolkit — general chat assistants (ChatGPT, Claude, Gemini, Copilot) and AI image and video tools — for marketing work.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Marketing prompting</a:t>
            </a:r>
          </a:p>
          <a:p>
            <a:pPr algn="l">
              <a:spcAft>
                <a:spcPts val="300"/>
              </a:spcAft>
            </a:pPr>
            <a:r>
              <a:rPr sz="1300" b="0">
                <a:solidFill>
                  <a:srgbClr val="5B6372"/>
                </a:solidFill>
                <a:latin typeface="Arial"/>
              </a:rPr>
              <a:t>Write effective, structured marketing prompts and build a reusable marketing prompt library.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Voice &amp; personas</a:t>
            </a:r>
          </a:p>
          <a:p>
            <a:pPr algn="l">
              <a:spcAft>
                <a:spcPts val="300"/>
              </a:spcAft>
            </a:pPr>
            <a:r>
              <a:rPr sz="1300" b="0">
                <a:solidFill>
                  <a:srgbClr val="5B6372"/>
                </a:solidFill>
                <a:latin typeface="Arial"/>
              </a:rPr>
              <a:t>Use generative AI to define a consistent brand voice and to build clear audience personas for a campaign.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Responsible generation</a:t>
            </a:r>
          </a:p>
          <a:p>
            <a:pPr algn="l">
              <a:spcAft>
                <a:spcPts val="300"/>
              </a:spcAft>
            </a:pPr>
            <a:r>
              <a:rPr sz="1300" b="0">
                <a:solidFill>
                  <a:srgbClr val="5B6372"/>
                </a:solidFill>
                <a:latin typeface="Arial"/>
              </a:rPr>
              <a:t>Generate marketing copy, images and ideas with AI, applying responsible-use practices — originality, accuracy of claims, disclosure and platform rules.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Social content</a:t>
            </a:r>
          </a:p>
          <a:p>
            <a:pPr algn="l">
              <a:spcAft>
                <a:spcPts val="300"/>
              </a:spcAft>
            </a:pPr>
            <a:r>
              <a:rPr sz="1300" b="0">
                <a:solidFill>
                  <a:srgbClr val="5B6372"/>
                </a:solidFill>
                <a:latin typeface="Arial"/>
              </a:rPr>
              <a:t>Create platform-appropriate social media content — post concepts, hooks, captions and a content calendar — with AI.</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Ad &amp; email copy</a:t>
            </a:r>
          </a:p>
          <a:p>
            <a:pPr algn="l">
              <a:spcAft>
                <a:spcPts val="300"/>
              </a:spcAft>
            </a:pPr>
            <a:r>
              <a:rPr sz="1300" b="0">
                <a:solidFill>
                  <a:srgbClr val="5B6372"/>
                </a:solidFill>
                <a:latin typeface="Arial"/>
              </a:rPr>
              <a:t>Write ad and email copy with AI — ad headlines and body variations, and launch and nurture emails with clear calls to action.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Images &amp; video</a:t>
            </a:r>
          </a:p>
          <a:p>
            <a:pPr algn="l">
              <a:spcAft>
                <a:spcPts val="300"/>
              </a:spcAft>
            </a:pPr>
            <a:r>
              <a:rPr sz="1300" b="0">
                <a:solidFill>
                  <a:srgbClr val="5B6372"/>
                </a:solidFill>
                <a:latin typeface="Arial"/>
              </a:rPr>
              <a:t>Generate on-brand images and short-form marketing videos with AI image and video tools.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Brand consistency</a:t>
            </a:r>
          </a:p>
          <a:p>
            <a:pPr algn="l">
              <a:spcAft>
                <a:spcPts val="300"/>
              </a:spcAft>
            </a:pPr>
            <a:r>
              <a:rPr sz="1300" b="0">
                <a:solidFill>
                  <a:srgbClr val="5B6372"/>
                </a:solidFill>
                <a:latin typeface="Arial"/>
              </a:rPr>
              <a:t>Maintain brand voice and consistency across channels, and repurpose one core piece of content into many.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Audience &amp; keywords</a:t>
            </a:r>
          </a:p>
          <a:p>
            <a:pPr algn="l">
              <a:spcAft>
                <a:spcPts val="300"/>
              </a:spcAft>
            </a:pPr>
            <a:r>
              <a:rPr sz="1300" b="0">
                <a:solidFill>
                  <a:srgbClr val="5B6372"/>
                </a:solidFill>
                <a:latin typeface="Arial"/>
              </a:rPr>
              <a:t>Research audiences and keywords with AI — deepen personas, and build keyword clusters for SEO and paid search.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Campaign plan</a:t>
            </a:r>
          </a:p>
          <a:p>
            <a:pPr algn="l">
              <a:spcAft>
                <a:spcPts val="300"/>
              </a:spcAft>
            </a:pPr>
            <a:r>
              <a:rPr sz="1300" b="0">
                <a:solidFill>
                  <a:srgbClr val="5B6372"/>
                </a:solidFill>
                <a:latin typeface="Arial"/>
              </a:rPr>
              <a:t>Plan a multi-channel marketing campaign with AI — objectives, funnel, channel mix, content map and timeline.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11</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Personalise &amp; scale</a:t>
            </a:r>
          </a:p>
          <a:p>
            <a:pPr algn="l">
              <a:spcAft>
                <a:spcPts val="300"/>
              </a:spcAft>
            </a:pPr>
            <a:r>
              <a:rPr sz="1300" b="0">
                <a:solidFill>
                  <a:srgbClr val="5B6372"/>
                </a:solidFill>
                <a:latin typeface="Arial"/>
              </a:rPr>
              <a:t>Personalise and scale marketing content with AI — variants by segment and channel — without losing the brand voice.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12</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A/B test &amp; optimise</a:t>
            </a:r>
          </a:p>
          <a:p>
            <a:pPr algn="l">
              <a:spcAft>
                <a:spcPts val="300"/>
              </a:spcAft>
            </a:pPr>
            <a:r>
              <a:rPr sz="1300" b="0">
                <a:solidFill>
                  <a:srgbClr val="5B6372"/>
                </a:solidFill>
                <a:latin typeface="Arial"/>
              </a:rPr>
              <a:t>Design and run A/B tests with AI — hypotheses, variants and metrics — and use the results to optimise.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13</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Performance analysis</a:t>
            </a:r>
          </a:p>
          <a:p>
            <a:pPr algn="l">
              <a:spcAft>
                <a:spcPts val="300"/>
              </a:spcAft>
            </a:pPr>
            <a:r>
              <a:rPr sz="1300" b="0">
                <a:solidFill>
                  <a:srgbClr val="5B6372"/>
                </a:solidFill>
                <a:latin typeface="Arial"/>
              </a:rPr>
              <a:t>Analyse marketing performance with AI — read the key metrics, diagnose what is underperforming and decide the next action.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14</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Workflow automation</a:t>
            </a:r>
          </a:p>
          <a:p>
            <a:pPr algn="l">
              <a:spcAft>
                <a:spcPts val="300"/>
              </a:spcAft>
            </a:pPr>
            <a:r>
              <a:rPr sz="1300" b="0">
                <a:solidFill>
                  <a:srgbClr val="5B6372"/>
                </a:solidFill>
                <a:latin typeface="Arial"/>
              </a:rPr>
              <a:t>Automate repetitive marketing workflows with AI — design a practical, repeatable automation for your team.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15</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Reporting &amp; insights</a:t>
            </a:r>
          </a:p>
          <a:p>
            <a:pPr algn="l">
              <a:spcAft>
                <a:spcPts val="300"/>
              </a:spcAft>
            </a:pPr>
            <a:r>
              <a:rPr sz="1300" b="0">
                <a:solidFill>
                  <a:srgbClr val="5B6372"/>
                </a:solidFill>
                <a:latin typeface="Arial"/>
              </a:rPr>
              <a:t>Turn marketing data into reporting and insights with AI — a clear performance summary and next-step recommendations.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16</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Marketing playbook</a:t>
            </a:r>
          </a:p>
          <a:p>
            <a:pPr algn="l">
              <a:spcAft>
                <a:spcPts val="300"/>
              </a:spcAft>
            </a:pPr>
            <a:r>
              <a:rPr sz="1300" b="0">
                <a:solidFill>
                  <a:srgbClr val="5B6372"/>
                </a:solidFill>
                <a:latin typeface="Arial"/>
              </a:rPr>
              <a:t>Combine everything into a reusable AI Marketing Playbook and present the campaign.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the practical skills from every lab in this course — keep applying them to your own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Digital Marketing (C1468)  ·  C1468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